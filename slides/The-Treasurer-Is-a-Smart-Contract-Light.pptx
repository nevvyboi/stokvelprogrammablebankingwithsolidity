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[Walk on with one member card in your hand. Hold it up. Let the room see it before you speak.]</a:t>
            </a:r>
          </a:p>
          <a:p/>
          <a:p>
            <a:r>
              <a:t>Evening, everybody. Howzit.</a:t>
            </a:r>
          </a:p>
          <a:p/>
          <a:p>
            <a:r>
              <a:t>[Hold the card a moment longer.]</a:t>
            </a:r>
          </a:p>
          <a:p/>
          <a:p>
            <a:r>
              <a:t>This is a stokvel membership card. Six of you are going to get one of these in a few minutes.</a:t>
            </a:r>
          </a:p>
          <a:p>
            <a:r>
              <a:t>And by the end of this talk, this card is going to get stolen.</a:t>
            </a:r>
          </a:p>
          <a:p/>
          <a:p>
            <a:r>
              <a:t>[Pocket it.]</a:t>
            </a:r>
          </a:p>
          <a:p/>
          <a:p>
            <a:r>
              <a:t>I'm Nevin. I'm a data engineer, I'm doing my MSc at night, and I build things on Programmable</a:t>
            </a:r>
          </a:p>
          <a:p>
            <a:r>
              <a:t>Banking that my friends think are slightly unhinged. Tonight's one is called [The Treasurer Is a</a:t>
            </a:r>
          </a:p>
          <a:p>
            <a:r>
              <a:t>Smart Contract].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shows the fictional WhatsApp thread. Read it in the voice of someone who's been holding</a:t>
            </a:r>
          </a:p>
          <a:p>
            <a:r>
              <a:t>that question in for a week.]</a:t>
            </a:r>
          </a:p>
          <a:p/>
          <a:p>
            <a:r>
              <a:t>"Guys. Where's December's money."</a:t>
            </a:r>
          </a:p>
          <a:p/>
          <a:p>
            <a:r>
              <a:t>[Beat.]</a:t>
            </a:r>
          </a:p>
          <a:p/>
          <a:p>
            <a:r>
              <a:t>"Guys?"</a:t>
            </a:r>
          </a:p>
          <a:p/>
          <a:p>
            <a:r>
              <a:t>[Beat.]</a:t>
            </a:r>
          </a:p>
          <a:p/>
          <a:p>
            <a:r>
              <a:t>That little face at the end. Every South African knows that face.</a:t>
            </a:r>
          </a:p>
          <a:p/>
          <a:p>
            <a:r>
              <a:t>If you have ever been in a stokvel, or your mother has, or your aunt runs one, you know exactly</a:t>
            </a:r>
          </a:p>
          <a:p>
            <a:r>
              <a:t>what happened here. Somebody has a spreadsheet. Somebody has the banking app. Somebody's cousin</a:t>
            </a:r>
          </a:p>
          <a:p>
            <a:r>
              <a:t>needed a small loan in November. And now it's December, and the question in the group has no</a:t>
            </a:r>
          </a:p>
          <a:p>
            <a:r>
              <a:t>answer.</a:t>
            </a:r>
          </a:p>
          <a:p/>
          <a:p>
            <a:r>
              <a:t>[✂️ Show of hands. Skip this if you are tight on time.]</a:t>
            </a:r>
          </a:p>
          <a:p/>
          <a:p>
            <a:r>
              <a:t>Quick show of hands. Who here is in a stokvel? Keep them up. Who is in one where you personally</a:t>
            </a:r>
          </a:p>
          <a:p>
            <a:r>
              <a:t>have never seen the bank statement? [Look around.] Ja. That's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three numbers land one at a time.]</a:t>
            </a:r>
          </a:p>
          <a:p/>
          <a:p>
            <a:r>
              <a:t>Let's be honest about how big this is, because I think in a room of developers we underrate it.</a:t>
            </a:r>
          </a:p>
          <a:p/>
          <a:p>
            <a:r>
              <a:t>Eleven million members. Eight hundred and ten thousand stokvels. Roughly fifty billion rand a</a:t>
            </a:r>
          </a:p>
          <a:p>
            <a:r>
              <a:t>year. That's NASASA's count from August last year, and it's on the slide so you can check me.</a:t>
            </a:r>
          </a:p>
          <a:p/>
          <a:p>
            <a:r>
              <a:t>Fifty billion rand, moving every year, on trust. Not on contracts. Not on software. On the fact</a:t>
            </a:r>
          </a:p>
          <a:p>
            <a:r>
              <a:t>that Thandi is a good person and everybody knows her.</a:t>
            </a:r>
          </a:p>
          <a:p/>
          <a:p>
            <a:r>
              <a:t>And the thing is, Thandi usually is a good person. That's not the problem. The problem is that</a:t>
            </a:r>
          </a:p>
          <a:p>
            <a:r>
              <a:t>the whole system only works when she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diagram: ledger, money and rules, all with arrows into one person.]</a:t>
            </a:r>
          </a:p>
          <a:p/>
          <a:p>
            <a:r>
              <a:t>Look at where everything goes. The ledger, who paid what, lives in the treasurer's head or in</a:t>
            </a:r>
          </a:p>
          <a:p>
            <a:r>
              <a:t>her notebook. The money lives in the treasurer's bank account, because the group needs an</a:t>
            </a:r>
          </a:p>
          <a:p>
            <a:r>
              <a:t>account and it's easier if it's hers. And the rules, whose turn it is, what happens if you're</a:t>
            </a:r>
          </a:p>
          <a:p>
            <a:r>
              <a:t>late, live in the WhatsApp group. Which the treasurer admins.</a:t>
            </a:r>
          </a:p>
          <a:p/>
          <a:p>
            <a:r>
              <a:t>One person. Three jobs. No audit trail.</a:t>
            </a:r>
          </a:p>
          <a:p/>
          <a:p>
            <a:r>
              <a:t>Now here's what I want you to notice. Investec doesn't sell a stokvel account. FNB does,</a:t>
            </a:r>
          </a:p>
          <a:p>
            <a:r>
              <a:t>Standard Bank does, Nedbank does. Investec doesn't. And I'm going to argue tonight that with</a:t>
            </a:r>
          </a:p>
          <a:p>
            <a:r>
              <a:t>Programmable Banking, it doesn't need to. Because the interesting bit was never the account.</a:t>
            </a:r>
          </a:p>
          <a:p>
            <a:r>
              <a:t>The interesting bit is the treasurer.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diagram with three words: Money, Rules, Messages.]</a:t>
            </a:r>
          </a:p>
          <a:p/>
          <a:p>
            <a:r>
              <a:t>Here's the whole idea in one sentence. Investec holds the rand. The blockchain holds the</a:t>
            </a:r>
          </a:p>
          <a:p>
            <a:r>
              <a:t>rulebook. And a small program called a relayer carries messages between them, and it is not</a:t>
            </a:r>
          </a:p>
          <a:p>
            <a:r>
              <a:t>allowed to make decisions.</a:t>
            </a:r>
          </a:p>
          <a:p/>
          <a:p>
            <a:r>
              <a:t>Three pieces. What matters is what each one can't do.</a:t>
            </a:r>
          </a:p>
          <a:p/>
          <a:p>
            <a:r>
              <a:t>The bank holds every cent. Nothing on the chain ever holds money. There is no token, there is no</a:t>
            </a:r>
          </a:p>
          <a:p>
            <a:r>
              <a:t>coin, there's nothing to buy. If you came here for crypto, I'm sorry, there's wine at the back.</a:t>
            </a:r>
          </a:p>
          <a:p/>
          <a:p>
            <a:r>
              <a:t>The contract holds the record and the rules. Who paid. Whose turn it is. What the club is owed.</a:t>
            </a:r>
          </a:p>
          <a:p>
            <a:r>
              <a:t>And it refuses anything that breaks a rule. We'll make it refuse a lot tonight.</a:t>
            </a:r>
          </a:p>
          <a:p/>
          <a:p>
            <a:r>
              <a:t>And the relayer, the messenger, reads the bank and tells the chain, reads the chain and tells the</a:t>
            </a:r>
          </a:p>
          <a:p>
            <a:r>
              <a:t>bank. It cannot choose who gets paid. It cannot invent a balance. And if it lies, the contract</a:t>
            </a:r>
          </a:p>
          <a:p>
            <a:r>
              <a:t>catches it, and the members can vote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hash chain animates: five blocks, then the second one changes and the rest go red.]</a:t>
            </a:r>
          </a:p>
          <a:p/>
          <a:p>
            <a:r>
              <a:t>I'm going to do blockchain in one minute, and then I'm never going to say the word "blockchain"</a:t>
            </a:r>
          </a:p>
          <a:p>
            <a:r>
              <a:t>again, because I know it makes some of you tired.</a:t>
            </a:r>
          </a:p>
          <a:p/>
          <a:p>
            <a:r>
              <a:t>A chain is a list of records where each record carries a fingerprint of the one before it. That</a:t>
            </a:r>
          </a:p>
          <a:p>
            <a:r>
              <a:t>fingerprint is a hash. Change one number in block two, and block two's fingerprint changes, and</a:t>
            </a:r>
          </a:p>
          <a:p>
            <a:r>
              <a:t>block three was carrying the old one, so now three is wrong, and four, and five. Everything</a:t>
            </a:r>
          </a:p>
          <a:p>
            <a:r>
              <a:t>after the edit breaks.</a:t>
            </a:r>
          </a:p>
          <a:p/>
          <a:p>
            <a:r>
              <a:t>[Point at the red row.]</a:t>
            </a:r>
          </a:p>
          <a:p/>
          <a:p>
            <a:r>
              <a:t>Then you give the same list to thousands of computers, so that to change one line you'd have to</a:t>
            </a:r>
          </a:p>
          <a:p>
            <a:r>
              <a:t>fool all of them at once.</a:t>
            </a:r>
          </a:p>
          <a:p/>
          <a:p>
            <a:r>
              <a:t>That's it. That's the whole property we want. Not money. Not tokens. Just a notebook that</a:t>
            </a:r>
          </a:p>
          <a:p>
            <a:r>
              <a:t>nobody can quietly rewrite. A treasurer's book, kept in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[Pick up the stack of six cards. This is the safety line moment.]</a:t>
            </a:r>
          </a:p>
          <a:p/>
          <a:p>
            <a:r>
              <a:t>Right. Volunteers. I need six people who are prepared to be in a stokvel with strangers for</a:t>
            </a:r>
          </a:p>
          <a:p>
            <a:r>
              <a:t>twenty minutes.</a:t>
            </a:r>
          </a:p>
          <a:p/>
          <a:p>
            <a:r>
              <a:t>[Hand out the cards as they come up. Read the names off the cards: Lerato, Thabo, Aisha, Johan,</a:t>
            </a:r>
          </a:p>
          <a:p>
            <a:r>
              <a:t>Priya, Sipho. Give each person their number.]</a:t>
            </a:r>
          </a:p>
          <a:p/>
          <a:p>
            <a:r>
              <a:t>Before anything moves: everything you see tonight is the Investec sandbox and a test network.</a:t>
            </a:r>
          </a:p>
          <a:p>
            <a:r>
              <a:t>There is no real money here and no real person's data. These names are made up. These keys are</a:t>
            </a:r>
          </a:p>
          <a:p>
            <a:r>
              <a:t>worth nothing. Treat the card like cash anyway, because that's the habit we're teaching.</a:t>
            </a:r>
          </a:p>
          <a:p/>
          <a:p>
            <a:r>
              <a:t>[Turn to the projector.]</a:t>
            </a:r>
          </a:p>
          <a:p/>
          <a:p>
            <a:r>
              <a:t>This is the treasurer's book. Left page, the Investec account. Right page, the chain. Both of</a:t>
            </a:r>
          </a:p>
          <a:p>
            <a:r>
              <a:t>them live, both of them public.</a:t>
            </a:r>
          </a:p>
          <a:p/>
          <a:p>
            <a:r>
              <a:t>[Point at the signing station.]</a:t>
            </a:r>
          </a:p>
          <a:p/>
          <a:p>
            <a:r>
              <a:t>Lerato, come and be first. Turn your card over, hold the QR to the scanner.</a:t>
            </a:r>
          </a:p>
          <a:p/>
          <a:p>
            <a:r>
              <a:t>Signing station: scan card 01. The slip shows "Lerato signs the constitution of The Q4</a:t>
            </a:r>
          </a:p>
          <a:p>
            <a:r>
              <a:t>Stokvel." Press Sign.</a:t>
            </a:r>
          </a:p>
          <a:p/>
          <a:p>
            <a:r>
              <a:t>Look at the sentence. Not a hex string. English. That's what her card is signing, and the</a:t>
            </a:r>
          </a:p>
          <a:p>
            <a:r>
              <a:t>contract only accepts it because that card is member one. Press the button.</a:t>
            </a:r>
          </a:p>
          <a:p/>
          <a:p>
            <a:r>
              <a:t>[Wait for the minute book line: "Member joined".]</a:t>
            </a:r>
          </a:p>
          <a:p/>
          <a:p>
            <a:r>
              <a:t>And there it is on the right page. Nobody typed her name in. The chain knows her from the</a:t>
            </a:r>
          </a:p>
          <a:p>
            <a:r>
              <a:t>signature.</a:t>
            </a:r>
          </a:p>
          <a:p/>
          <a:p>
            <a:r>
              <a:t>[Get the other five through the station quickly. Talk over it.]</a:t>
            </a:r>
          </a:p>
          <a:p/>
          <a:p>
            <a:r>
              <a:t>While the rest of the committee signs, everybody else: scan the QR on the screen. That's the</a:t>
            </a:r>
          </a:p>
          <a:p>
            <a:r>
              <a:t>audience page. Read only, same as the projector, and every line links to the block explorer. You</a:t>
            </a:r>
          </a:p>
          <a:p>
            <a:r>
              <a:t>don't have to take my word for any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[Aisha's turn. The card in her hand is the stokvel card; the swipe is on the card simulator.]</a:t>
            </a:r>
          </a:p>
          <a:p/>
          <a:p>
            <a:r>
              <a:t>Aisha, you're going to buy something. R87 at the bakery.</a:t>
            </a:r>
          </a:p>
          <a:p/>
          <a:p>
            <a:r>
              <a:t>Presenter: DEMO 2, "Aisha swipes R87 at the bakery".</a:t>
            </a:r>
          </a:p>
          <a:p/>
          <a:p>
            <a:r>
              <a:t>That button runs the actual card code, the file called main.js, the way Investec's card runtime</a:t>
            </a:r>
          </a:p>
          <a:p>
            <a:r>
              <a:t>would run it. It's about sixty lines, and it's in the repo. After the transaction goes through,</a:t>
            </a:r>
          </a:p>
          <a:p>
            <a:r>
              <a:t>it rounds the amount up to the next ten rand, so R87 becomes R90, and it transfers the R3</a:t>
            </a:r>
          </a:p>
          <a:p>
            <a:r>
              <a:t>difference to the stokvel account with a reference. STK dash zero three. Member three.</a:t>
            </a:r>
          </a:p>
          <a:p/>
          <a:p>
            <a:r>
              <a:t>[Watch the left page. The STK-03 line lands.]</a:t>
            </a:r>
          </a:p>
          <a:p/>
          <a:p>
            <a:r>
              <a:t>There's the R3 on the statement. Now watch the messenger.</a:t>
            </a:r>
          </a:p>
          <a:p/>
          <a:p>
            <a:r>
              <a:t>[The minute book: "bank → chain, Contribution recorded".]</a:t>
            </a:r>
          </a:p>
          <a:p/>
          <a:p>
            <a:r>
              <a:t>The relayer polled the account, saw a credit with a stokvel reference, and told the contract:</a:t>
            </a:r>
          </a:p>
          <a:p>
            <a:r>
              <a:t>member three paid three hundred cents, and here's the fingerprint of the bank transaction. The</a:t>
            </a:r>
          </a:p>
          <a:p>
            <a:r>
              <a:t>contract wrote it down. And look at the quilt.</a:t>
            </a:r>
          </a:p>
          <a:p/>
          <a:p>
            <a:r>
              <a:t>[The new patch appears.]</a:t>
            </a:r>
          </a:p>
          <a:p/>
          <a:p>
            <a:r>
              <a:t>Every contribution adds a patch in that member's colour. It's a small thing, but I want the</a:t>
            </a:r>
          </a:p>
          <a:p>
            <a:r>
              <a:t>group's history to look like something the group made.</a:t>
            </a:r>
          </a:p>
          <a:p/>
          <a:p>
            <a:r>
              <a:t>If you're on the audience page, that event has a hash. Tap it. That's the contract, on a public</a:t>
            </a:r>
          </a:p>
          <a:p>
            <a:r>
              <a:t>test network, telling you what just happened, without me in the way.</a:t>
            </a:r>
          </a:p>
          <a:p/>
          <a:p>
            <a:r>
              <a:t>One honest note, because this is a room that will ask. Investec's sandbox is stateless. A</a:t>
            </a:r>
          </a:p>
          <a:p>
            <a:r>
              <a:t>transfer in the sandbox returns a real payment reference and then nothing changes. So on stage</a:t>
            </a:r>
          </a:p>
          <a:p>
            <a:r>
              <a:t>the money moves in a mirror of the sandbox that speaks the same API, byte for byte, and every</a:t>
            </a:r>
          </a:p>
          <a:p>
            <a:r>
              <a:t>payout is also sent to the real sandbox, which answers with a real reference. You'll see one</a:t>
            </a:r>
          </a:p>
          <a:p>
            <a:r>
              <a:t>later. The relayer can't tell the difference, and that's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code slide: closeRound, with the three checks highlighted and the rest dimmed.]</a:t>
            </a:r>
          </a:p>
          <a:p/>
          <a:p>
            <a:r>
              <a:t>This is the entire payout rule. One function. Twelve lines that matter.</a:t>
            </a:r>
          </a:p>
          <a:p/>
          <a:p>
            <a:r>
              <a:t>[Point at each line as you go.]</a:t>
            </a:r>
          </a:p>
          <a:p/>
          <a:p>
            <a:r>
              <a:t>First: are the reserves fresh? The bank balance, signed by a separate key, no older than an hour.</a:t>
            </a:r>
          </a:p>
          <a:p>
            <a:r>
              <a:t>If not, ReservesStale. Second: does the bank hold at least what the club is owed? If not,</a:t>
            </a:r>
          </a:p>
          <a:p>
            <a:r>
              <a:t>ReservesShort. Third: is the month actually over? If not, RoundStillOpen.</a:t>
            </a:r>
          </a:p>
          <a:p/>
          <a:p>
            <a:r>
              <a:t>And then the line I care about most.</a:t>
            </a:r>
          </a:p>
          <a:p/>
          <a:p>
            <a:r>
              <a:t>[Highlight recipient = round % members.length.]</a:t>
            </a:r>
          </a:p>
          <a:p/>
          <a:p>
            <a:r>
              <a:t>The recipient is the round number, modulo six. That's it. There is no function anywhere in</a:t>
            </a:r>
          </a:p>
          <a:p>
            <a:r>
              <a:t>this contract that takes a recipient as an argument. Nobody can pay themselves. Not the</a:t>
            </a:r>
          </a:p>
          <a:p>
            <a:r>
              <a:t>treasurer, not me, not the person who deployed it. The order is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[Everyone else pays first. Do it quickly, it's not the show.]</a:t>
            </a:r>
          </a:p>
          <a:p/>
          <a:p>
            <a:r>
              <a:t>Let's get everybody paid up for the month.</a:t>
            </a:r>
          </a:p>
          <a:p/>
          <a:p>
            <a:r>
              <a:t>Presenter: "before DEMO 3", click through the remaining members.</a:t>
            </a:r>
          </a:p>
          <a:p/>
          <a:p>
            <a:r>
              <a:t>[Roster fills with PAID stamps.]</a:t>
            </a:r>
          </a:p>
          <a:p/>
          <a:p>
            <a:r>
              <a:t>Six stamps. Thirty thousand and three rand in the pot, because Aisha's bakery run counts. And</a:t>
            </a:r>
          </a:p>
          <a:p>
            <a:r>
              <a:t>the reconciliation line says the bank holds exactly that, signed. Covered.</a:t>
            </a:r>
          </a:p>
          <a:p/>
          <a:p>
            <a:r>
              <a:t>Now, it's the twenty-third of December, and I can't make you sit here until then, so on this</a:t>
            </a:r>
          </a:p>
          <a:p>
            <a:r>
              <a:t>local chain I'm allowed to move the clock.</a:t>
            </a:r>
          </a:p>
          <a:p/>
          <a:p>
            <a:r>
              <a:t>Presenter: DEMO 3, "Skip to month end and settle".</a:t>
            </a:r>
          </a:p>
          <a:p/>
          <a:p>
            <a:r>
              <a:t>[Talk through the minute book as the lines arrive.]</a:t>
            </a:r>
          </a:p>
          <a:p/>
          <a:p>
            <a:r>
              <a:t>Clock moved. The round is over. The relayer asks the contract to close, the contract checks the</a:t>
            </a:r>
          </a:p>
          <a:p>
            <a:r>
              <a:t>three things, and it says: pay member three. Aisha. Payout due.</a:t>
            </a:r>
          </a:p>
          <a:p/>
          <a:p>
            <a:r>
              <a:t>The relayer calls the Investec payments API, paymultiple, with Aisha's saved beneficiary.</a:t>
            </a:r>
          </a:p>
          <a:p/>
          <a:p>
            <a:r>
              <a:t>[Left page: the debit lands, the balance drops to zero.]</a:t>
            </a:r>
          </a:p>
          <a:p/>
          <a:p>
            <a:r>
              <a:t>And there's the money leaving the account. Thirty thousand and three rand to Aisha. The bank</a:t>
            </a:r>
          </a:p>
          <a:p>
            <a:r>
              <a:t>gives back a payment reference, and the relayer tells the contract: paid, here's the reference.</a:t>
            </a:r>
          </a:p>
          <a:p>
            <a:r>
              <a:t>Payout settled. The pot is zero, and the roster has moved on. Johan is next.</a:t>
            </a:r>
          </a:p>
          <a:p/>
          <a:p>
            <a:r>
              <a:t>[Turn to Aisha.]</a:t>
            </a:r>
          </a:p>
          <a:p/>
          <a:p>
            <a:r>
              <a:t>Congratulations. It's testnet money, but the feeling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[Pick up the treasurer hat. Put it on someone. If you can, put it on yourself.]</a:t>
            </a:r>
          </a:p>
          <a:p/>
          <a:p>
            <a:r>
              <a:t>Now, I need a treasurer. The treasurer is the person with the login to the Investec account.</a:t>
            </a:r>
          </a:p>
          <a:p>
            <a:r>
              <a:t>That's a normal bank account. Nothing on any chain can stop the signatory from moving money. So</a:t>
            </a:r>
          </a:p>
          <a:p>
            <a:r>
              <a:t>what happens when they do?</a:t>
            </a:r>
          </a:p>
          <a:p/>
          <a:p>
            <a:r>
              <a:t>[Get the next month paid quickly, then steal.]</a:t>
            </a:r>
          </a:p>
          <a:p/>
          <a:p>
            <a:r>
              <a:t>Presenter: "before DEMO 3" buttons again for the new month, then DEMO 4, "Take R1,000 out,</a:t>
            </a:r>
          </a:p>
          <a:p>
            <a:r>
              <a:t>then attest".</a:t>
            </a:r>
          </a:p>
          <a:p/>
          <a:p>
            <a:r>
              <a:t>I've just moved a thousand rand from the stokvel account to my personal account, and I've</a:t>
            </a:r>
          </a:p>
          <a:p>
            <a:r>
              <a:t>labelled it "Admin fees". Very professional.</a:t>
            </a:r>
          </a:p>
          <a:p/>
          <a:p>
            <a:r>
              <a:t>[Left page: the debit line, "Admin fees".]</a:t>
            </a:r>
          </a:p>
          <a:p/>
          <a:p>
            <a:r>
              <a:t>Now. The attestor, that separate key, signs the balance every twenty seconds. Watch the</a:t>
            </a:r>
          </a:p>
          <a:p>
            <a:r>
              <a:t>reconciliation.</a:t>
            </a:r>
          </a:p>
          <a:p/>
          <a:p>
            <a:r>
              <a:t>[Right page: "Short R1,000.00" stamp goes red.]</a:t>
            </a:r>
          </a:p>
          <a:p/>
          <a:p>
            <a:r>
              <a:t>Bank holds twenty-nine thousand. Club is owed thirty. Short. And now let's try to close the</a:t>
            </a:r>
          </a:p>
          <a:p>
            <a:r>
              <a:t>month.</a:t>
            </a:r>
          </a:p>
          <a:p/>
          <a:p>
            <a:r>
              <a:t>Presenter: DEMO 4, "Try to close the round".</a:t>
            </a:r>
          </a:p>
          <a:p/>
          <a:p>
            <a:r>
              <a:t>[The screen goes red. FROZEN.]</a:t>
            </a:r>
          </a:p>
          <a:p/>
          <a:p>
            <a:r>
              <a:t>Frozen. No payout. The contract will not release a cent while the bank holds less than the</a:t>
            </a:r>
          </a:p>
          <a:p>
            <a:r>
              <a:t>club is owed. Not because I'm honest. Because it checked.</a:t>
            </a:r>
          </a:p>
          <a:p/>
          <a:p>
            <a:r>
              <a:t>And every member is looking at this on their phone. There's no version of this where December's</a:t>
            </a:r>
          </a:p>
          <a:p>
            <a:r>
              <a:t>money goes missing quietly.</a:t>
            </a:r>
          </a:p>
          <a:p/>
          <a:p>
            <a:r>
              <a:t>[Take the hat off.]</a:t>
            </a:r>
          </a:p>
          <a:p/>
          <a:p>
            <a:r>
              <a:t>Presenter: DEMO 4, "Put it back".</a:t>
            </a:r>
          </a:p>
          <a:p/>
          <a:p>
            <a:r>
              <a:t>The money goes back, the next attestation shows it, the round closes. The club moves on. The</a:t>
            </a:r>
          </a:p>
          <a:p>
            <a:r>
              <a:t>treasurer, we'll deal with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one is about the relayer being wrong, not the treasurer being bad.]</a:t>
            </a:r>
          </a:p>
          <a:p/>
          <a:p>
            <a:r>
              <a:t>The relayer is software, and software repeats itself. Retries, timeouts, a bug. What happens if</a:t>
            </a:r>
          </a:p>
          <a:p>
            <a:r>
              <a:t>the bank tells the relayer about the same transaction twice?</a:t>
            </a:r>
          </a:p>
          <a:p/>
          <a:p>
            <a:r>
              <a:t>[The slide shows the one-line diff between V1 and V2.]</a:t>
            </a:r>
          </a:p>
          <a:p/>
          <a:p>
            <a:r>
              <a:t>This is version one of the contract, from a few weeks ago, and version two. The difference is</a:t>
            </a:r>
          </a:p>
          <a:p>
            <a:r>
              <a:t>one line. In version one, this line isn't there.</a:t>
            </a:r>
          </a:p>
          <a:p/>
          <a:p>
            <a:r>
              <a:t>[Point at if (seen[investecRef]) revert AlreadyRecorded(investecRef);]</a:t>
            </a:r>
          </a:p>
          <a:p/>
          <a:p>
            <a:r>
              <a:t>Let's see what one line is worth. Version one first.</a:t>
            </a:r>
          </a:p>
          <a:p/>
          <a:p>
            <a:r>
              <a:t>Presenter: DEMO 5, "V1: same transaction twice".</a:t>
            </a:r>
          </a:p>
          <a:p/>
          <a:p>
            <a:r>
              <a:t>Same bank transaction, sent twice. Version one records it twice. Priya has now paid ten thousand</a:t>
            </a:r>
          </a:p>
          <a:p>
            <a:r>
              <a:t>rand this month according to the chain, and five according to the bank. Two months from now,</a:t>
            </a:r>
          </a:p>
          <a:p>
            <a:r>
              <a:t>she'd be paid out of money that doesn't exist.</a:t>
            </a:r>
          </a:p>
          <a:p/>
          <a:p>
            <a:r>
              <a:t>Version two.</a:t>
            </a:r>
          </a:p>
          <a:p/>
          <a:p>
            <a:r>
              <a:t>Presenter: DEMO 5, "V2: same webhook twice".</a:t>
            </a:r>
          </a:p>
          <a:p/>
          <a:p>
            <a:r>
              <a:t>[The screen goes red. REFUSED.]</a:t>
            </a:r>
          </a:p>
          <a:p/>
          <a:p>
            <a:r>
              <a:t>First one lands. Second one: AlreadyRecorded. The contract has seen that transaction</a:t>
            </a:r>
          </a:p>
          <a:p>
            <a:r>
              <a:t>fingerprint before, and it will never accept it again. The relayer didn't have to be clever. It</a:t>
            </a:r>
          </a:p>
          <a:p>
            <a:r>
              <a:t>just had to be stopped.</a:t>
            </a:r>
          </a:p>
          <a:p/>
          <a:p>
            <a:r>
              <a:t>✂️ [Optional: read the error out loud.] That hash on the screen is the fingerprint of the</a:t>
            </a:r>
          </a:p>
          <a:p>
            <a:r>
              <a:t>Investec transaction. It's what makes the contract's memory of the bank exact, one line per rand</a:t>
            </a:r>
          </a:p>
          <a:p>
            <a:r>
              <a:t>that ever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whole segment is a cut. If you keep it, keep it fast.]</a:t>
            </a:r>
          </a:p>
          <a:p/>
          <a:p>
            <a:r>
              <a:t>I found that bug in version one the boring way. I let a machine play ten thousand random months</a:t>
            </a:r>
          </a:p>
          <a:p>
            <a:r>
              <a:t>against the contract.</a:t>
            </a:r>
          </a:p>
          <a:p/>
          <a:p>
            <a:r>
              <a:t>Terminal: ./scripts/fuzz.sh</a:t>
            </a:r>
          </a:p>
          <a:p/>
          <a:p>
            <a:r>
              <a:t>This is Foundry's invariant fuzzer. It calls the contract in random orders with random numbers:</a:t>
            </a:r>
          </a:p>
          <a:p>
            <a:r>
              <a:t>contributions, duplicate webhooks, theft, refunds, time travel, closes, payouts. After every call</a:t>
            </a:r>
          </a:p>
          <a:p>
            <a:r>
              <a:t>it checks four things that must always be true. The sum of what members paid equals the total.</a:t>
            </a:r>
          </a:p>
          <a:p>
            <a:r>
              <a:t>Money in minus money out equals the pot. No transaction is ever counted twice. And the round</a:t>
            </a:r>
          </a:p>
          <a:p>
            <a:r>
              <a:t>never closes while the bank is short.</a:t>
            </a:r>
          </a:p>
          <a:p/>
          <a:p>
            <a:r>
              <a:t>[The suite fails. Point at the two-call reproduction.]</a:t>
            </a:r>
          </a:p>
          <a:p/>
          <a:p>
            <a:r>
              <a:t>Version one breaks in seconds, and it hands me the shortest sequence that breaks it. Two calls.</a:t>
            </a:r>
          </a:p>
          <a:p>
            <a:r>
              <a:t>Contribute, then the same webhook again. That's the reproduction I showed you a minute ago. The</a:t>
            </a:r>
          </a:p>
          <a:p>
            <a:r>
              <a:t>same suite against version two: ten thousand calls, all four invariants hold.</a:t>
            </a:r>
          </a:p>
          <a:p/>
          <a:p>
            <a:r>
              <a:t>If you take one engineering thing home tonight, take this. Write down what must always be true.</a:t>
            </a:r>
          </a:p>
          <a:p>
            <a:r>
              <a:t>Let a machine try to make it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 to the committee.]</a:t>
            </a:r>
          </a:p>
          <a:p/>
          <a:p>
            <a:r>
              <a:t>The stokvel wants to raise the contribution. Five thousand to six. In a WhatsApp group this is</a:t>
            </a:r>
          </a:p>
          <a:p>
            <a:r>
              <a:t>a forty-message argument. Here it's a signature.</a:t>
            </a:r>
          </a:p>
          <a:p/>
          <a:p>
            <a:r>
              <a:t>Presenter: DEMO 7, "Propose R5,000 to R6,000".</a:t>
            </a:r>
          </a:p>
          <a:p/>
          <a:p>
            <a:r>
              <a:t>[Turn to the volunteers.]</a:t>
            </a:r>
          </a:p>
          <a:p/>
          <a:p>
            <a:r>
              <a:t>I need four of you at the signing station. Any four. Scan your card, read the sentence, press</a:t>
            </a:r>
          </a:p>
          <a:p>
            <a:r>
              <a:t>Sign.</a:t>
            </a:r>
          </a:p>
          <a:p/>
          <a:p>
            <a:r>
              <a:t>[As the first slip shows:]</a:t>
            </a:r>
          </a:p>
          <a:p/>
          <a:p>
            <a:r>
              <a:t>Read it out for me, Thabo. ["Thabo approves: raise the contribution from R5,000 to R6,000."]</a:t>
            </a:r>
          </a:p>
          <a:p>
            <a:r>
              <a:t>That's the message. Not a hash, not a transaction blob. A sentence a person can read before they</a:t>
            </a:r>
          </a:p>
          <a:p>
            <a:r>
              <a:t>agree to it. And nobody's paying for gas: the card signs, the relayer pays.</a:t>
            </a:r>
          </a:p>
          <a:p/>
          <a:p>
            <a:r>
              <a:t>[After the fourth vote: "majority reached, timelock started".]</a:t>
            </a:r>
          </a:p>
          <a:p/>
          <a:p>
            <a:r>
              <a:t>Four of six. Strict majority. And now: nothing happens. Deliberately. There's a timelock. On</a:t>
            </a:r>
          </a:p>
          <a:p>
            <a:r>
              <a:t>stage it's two minutes. In real life I'd set it to forty-eight hours, so a change that a majority</a:t>
            </a:r>
          </a:p>
          <a:p>
            <a:r>
              <a:t>signed at eleven at night can still be looked at in the morning.</a:t>
            </a:r>
          </a:p>
          <a:p/>
          <a:p>
            <a:r>
              <a:t>[Skip the timelock and execute.]</a:t>
            </a:r>
          </a:p>
          <a:p/>
          <a:p>
            <a:r>
              <a:t>Presenter: DEMO 7, "Execute".</a:t>
            </a:r>
          </a:p>
          <a:p/>
          <a:p>
            <a:r>
              <a:t>Executed. The contribution is six thousand. And that same vote signed twice? Let's not even try</a:t>
            </a:r>
          </a:p>
          <a:p>
            <a:r>
              <a:t>it, there's a nonce in the signature, the second copy is dead on arrival. We tested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[Walk over to Sipho. Take the card. Make it a little theatrical.]</a:t>
            </a:r>
          </a:p>
          <a:p/>
          <a:p>
            <a:r>
              <a:t>Sipho. I'm so sorry. Your card's been stolen.</a:t>
            </a:r>
          </a:p>
          <a:p/>
          <a:p>
            <a:r>
              <a:t>[Hold it up. This is the card from the opening line.]</a:t>
            </a:r>
          </a:p>
          <a:p/>
          <a:p>
            <a:r>
              <a:t>This is the card I held up at the start. It's now in the hands of a thief, and the thief can</a:t>
            </a:r>
          </a:p>
          <a:p>
            <a:r>
              <a:t>sign as Sipho. In most crypto systems, that's the end of the story. Lose your key, lose</a:t>
            </a:r>
          </a:p>
          <a:p>
            <a:r>
              <a:t>everything.</a:t>
            </a:r>
          </a:p>
          <a:p/>
          <a:p>
            <a:r>
              <a:t>Here, the committee can move Sipho's membership to a new card. Not the thief, the members.</a:t>
            </a:r>
          </a:p>
          <a:p/>
          <a:p>
            <a:r>
              <a:t>Presenter: DEMO 8, "Propose RotateKey 06 to 06b".</a:t>
            </a:r>
          </a:p>
          <a:p/>
          <a:p>
            <a:r>
              <a:t>[Hand Sipho the spare card, 06b.]</a:t>
            </a:r>
          </a:p>
          <a:p/>
          <a:p>
            <a:r>
              <a:t>Four signatures again. Same as before.</a:t>
            </a:r>
          </a:p>
          <a:p/>
          <a:p>
            <a:r>
              <a:t>[Get four votes at the station, then execute.]</a:t>
            </a:r>
          </a:p>
          <a:p/>
          <a:p>
            <a:r>
              <a:t>Presenter: DEMO 8, execute after the timelock.</a:t>
            </a:r>
          </a:p>
          <a:p/>
          <a:p>
            <a:r>
              <a:t>Now, the thief. That's me, with the old card.</a:t>
            </a:r>
          </a:p>
          <a:p/>
          <a:p>
            <a:r>
              <a:t>Signing station: scan the old card 06.</a:t>
            </a:r>
          </a:p>
          <a:p/>
          <a:p>
            <a:r>
              <a:t>[The slip says "Not a member". Show it.]</a:t>
            </a:r>
          </a:p>
          <a:p/>
          <a:p>
            <a:r>
              <a:t>Not a member. The card that was Sipho ten seconds ago is a piece of plastic. Every vote it</a:t>
            </a:r>
          </a:p>
          <a:p>
            <a:r>
              <a:t>ever cast still counts, because votes are counted per member, not per card. But it will never</a:t>
            </a:r>
          </a:p>
          <a:p>
            <a:r>
              <a:t>sign as Sipho again.</a:t>
            </a:r>
          </a:p>
          <a:p/>
          <a:p>
            <a:r>
              <a:t>[Sipho scans 06b.]</a:t>
            </a:r>
          </a:p>
          <a:p/>
          <a:p>
            <a:r>
              <a:t>And Sipho, with the new card, is Sipho.</a:t>
            </a:r>
          </a:p>
          <a:p/>
          <a:p>
            <a:r>
              <a:t>✂️ [Optional beat:] And a small detail for the people who build these things: the new card</a:t>
            </a:r>
          </a:p>
          <a:p>
            <a:r>
              <a:t>can't vote a second time on anything the old card already voted on. Same member, one vote. The</a:t>
            </a:r>
          </a:p>
          <a:p>
            <a:r>
              <a:t>contract remembers members, not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is the second cut.]</a:t>
            </a:r>
          </a:p>
          <a:p/>
          <a:p>
            <a:r>
              <a:t>One more thing, because I promised the relayer can't be trusted and I should prove it doesn't</a:t>
            </a:r>
          </a:p>
          <a:p>
            <a:r>
              <a:t>matter.</a:t>
            </a:r>
          </a:p>
          <a:p/>
          <a:p>
            <a:r>
              <a:t>Presenter: DEMO 9, "Stop the relayer".</a:t>
            </a:r>
          </a:p>
          <a:p/>
          <a:p>
            <a:r>
              <a:t>The backend just died. The dashboard still has the bank page, still has the chain page, still</a:t>
            </a:r>
          </a:p>
          <a:p>
            <a:r>
              <a:t>has every event, because it reads them from the chain, not from my server.</a:t>
            </a:r>
          </a:p>
          <a:p/>
          <a:p>
            <a:r>
              <a:t>[Wait for the restart line.]</a:t>
            </a:r>
          </a:p>
          <a:p/>
          <a:p>
            <a:r>
              <a:t>And it's back, three seconds later, and it replayed the bank and the chain and sent nothing</a:t>
            </a:r>
          </a:p>
          <a:p>
            <a:r>
              <a:t>twice, because it can't: the contract already has everything it would send.</a:t>
            </a:r>
          </a:p>
          <a:p/>
          <a:p>
            <a:r>
              <a:t>You could delete my laptop and this stokvel would still know who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[Slower. This is the part that makes the rest believable.]</a:t>
            </a:r>
          </a:p>
          <a:p/>
          <a:p>
            <a:r>
              <a:t>What this doesn't do, said plainly.</a:t>
            </a:r>
          </a:p>
          <a:p/>
          <a:p>
            <a:r>
              <a:t>The relayer is trusted to report what the bank did. The contract can stop it lying twice, and</a:t>
            </a:r>
          </a:p>
          <a:p>
            <a:r>
              <a:t>it can stop it paying the wrong person, but it can't see the bank's ledger. The members can.</a:t>
            </a:r>
          </a:p>
          <a:p/>
          <a:p>
            <a:r>
              <a:t>Group accounts need KYC. Six people sharing an account with an API key is a demo, not a</a:t>
            </a:r>
          </a:p>
          <a:p>
            <a:r>
              <a:t>product. The real version is a proper club account.</a:t>
            </a:r>
          </a:p>
          <a:p/>
          <a:p>
            <a:r>
              <a:t>There's no tokenised rand here, on purpose. The day there is one that a bank stands behind,</a:t>
            </a:r>
          </a:p>
          <a:p>
            <a:r>
              <a:t>the bank half of this gets simpler.</a:t>
            </a:r>
          </a:p>
          <a:p/>
          <a:p>
            <a:r>
              <a:t>And these cards should be passkeys. A phone that signs, not a QR you can photograph.</a:t>
            </a:r>
          </a:p>
          <a:p/>
          <a:p>
            <a:r>
              <a:t>[Credits.]</a:t>
            </a:r>
          </a:p>
          <a:p/>
          <a:p>
            <a:r>
              <a:t>None of this started with me. Peter Smythe's dual-auth card tutorial taught me how the card</a:t>
            </a:r>
          </a:p>
          <a:p>
            <a:r>
              <a:t>runtime behaves, including the two-second rule. His swipe-and-save tutorial is where the</a:t>
            </a:r>
          </a:p>
          <a:p>
            <a:r>
              <a:t>round-up pattern comes from. The links are on the slide and in the repo. This community is why</a:t>
            </a:r>
          </a:p>
          <a:p>
            <a:r>
              <a:t>this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repo QR is up. The quilt is on the screen.]</a:t>
            </a:r>
          </a:p>
          <a:p/>
          <a:p>
            <a:r>
              <a:t>So. Six strangers, a bank account, a contract, and a thief.</a:t>
            </a:r>
          </a:p>
          <a:p/>
          <a:p>
            <a:r>
              <a:t>We didn't replace the trust. We wrote it down where nobody can erase it.</a:t>
            </a:r>
          </a:p>
          <a:p/>
          <a:p>
            <a:r>
              <a:t>[Beat.]</a:t>
            </a:r>
          </a:p>
          <a:p/>
          <a:p>
            <a:r>
              <a:t>The repo is on the screen. Clone it, run one command, break it, and tell me what you broke.</a:t>
            </a:r>
          </a:p>
          <a:p>
            <a:r>
              <a:t>Thank you to my committee. [Name them.] Thank you.</a:t>
            </a:r>
          </a:p>
          <a:p/>
          <a:p>
            <a:r>
              <a:t>[Stay up for questions.]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Investec developer community  ·  Q4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59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0B1426"/>
                </a:solidFill>
                <a:latin typeface="Space Grotesk"/>
              </a:rPr>
              <a:t>The Treasurer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0B1426"/>
                </a:solidFill>
                <a:latin typeface="Space Grotesk"/>
              </a:rPr>
              <a:t>Is a Smart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Inter"/>
              </a:rPr>
              <a:t>Rebuilding the stokvel with Solidity and Investec Programmable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Investec holds the rand. The chain holds the rulebook. The relayer carries messages and can't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26"/>
                </a:solidFill>
                <a:latin typeface="JetBrains Mono"/>
              </a:rPr>
              <a:t>Nevin Tom</a:t>
            </a:r>
            <a:r>
              <a:rPr sz="1300" b="0" i="0">
                <a:solidFill>
                  <a:srgbClr val="5B6578"/>
                </a:solidFill>
                <a:latin typeface="JetBrains Mono"/>
              </a:rPr>
              <a:t>   data engineer · MSc student · builds on Programmable Banking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82296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0" y="925830"/>
            <a:ext cx="205740" cy="10287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98380" y="82296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04119" y="82296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09860" y="822960"/>
            <a:ext cx="10287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692640" y="10287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98380" y="102870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04119" y="102870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09860" y="10287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692640" y="12344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898380" y="123444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104119" y="12344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309860" y="12344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69264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98380" y="144018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04119" y="144018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030986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07040" y="82296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12780" y="822960"/>
            <a:ext cx="205740" cy="2057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18519" y="822960"/>
            <a:ext cx="205740" cy="2057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102870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0812780" y="102870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018519" y="10287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224260" y="102870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1337310"/>
            <a:ext cx="205740" cy="10287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12780" y="1234440"/>
            <a:ext cx="102870" cy="2057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18519" y="1337310"/>
            <a:ext cx="205740" cy="10287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24260" y="1234440"/>
            <a:ext cx="10287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60704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812780" y="1440180"/>
            <a:ext cx="205740" cy="10287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21390" y="1440180"/>
            <a:ext cx="10287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122426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169164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1691640"/>
            <a:ext cx="102870" cy="205740"/>
          </a:xfrm>
          <a:prstGeom prst="rect">
            <a:avLst/>
          </a:pr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98380" y="1691640"/>
            <a:ext cx="205740" cy="2057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104119" y="16916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0309860" y="16916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692640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98380" y="2000250"/>
            <a:ext cx="205740" cy="10287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104119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44150" y="1931670"/>
            <a:ext cx="137160" cy="137160"/>
          </a:xfrm>
          <a:prstGeom prst="ellipse">
            <a:avLst/>
          </a:pr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69264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9898380" y="21031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04119" y="2205990"/>
            <a:ext cx="205740" cy="10287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30986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692640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898380" y="230886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0104119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09860" y="2308860"/>
            <a:ext cx="10287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607040" y="169164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812780" y="169164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1018519" y="16916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0607040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12780" y="189738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18519" y="189738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1224260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60704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812780" y="21031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1018519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122426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607040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12780" y="230886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018519" y="230886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1224260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92640" y="256032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692640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898380" y="25603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0104119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0309860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92640" y="276606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8380" y="2868929"/>
            <a:ext cx="205740" cy="10287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104119" y="2766060"/>
            <a:ext cx="10287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309860" y="276606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692640" y="297180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9898380" y="297180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205740"/>
                </a:moveTo>
                <a:lnTo>
                  <a:pt x="0" y="0"/>
                </a:lnTo>
                <a:lnTo>
                  <a:pt x="205739" y="20574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0104119" y="29718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09860" y="297180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92640" y="3280409"/>
            <a:ext cx="205740" cy="10287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98380" y="3177539"/>
            <a:ext cx="205740" cy="10287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06990" y="3177539"/>
            <a:ext cx="102870" cy="2057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309860" y="3177539"/>
            <a:ext cx="10287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607040" y="256032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607040" y="2560320"/>
            <a:ext cx="205740" cy="10287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0812780" y="25603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0"/>
                </a:moveTo>
                <a:lnTo>
                  <a:pt x="205739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1018519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224260" y="2560320"/>
            <a:ext cx="10287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709910" y="2766060"/>
            <a:ext cx="102870" cy="20574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12780" y="2766060"/>
            <a:ext cx="205740" cy="2057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121390" y="2766060"/>
            <a:ext cx="102870" cy="20574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224260" y="2766060"/>
            <a:ext cx="205740" cy="2057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607040" y="29718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847069" y="3006090"/>
            <a:ext cx="137160" cy="13716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1018519" y="29718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224260" y="297180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0607040" y="31775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812780" y="3177539"/>
            <a:ext cx="205740" cy="10287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1018519" y="31775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224260" y="3177539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692640" y="3428999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69264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898380" y="3428999"/>
            <a:ext cx="205740" cy="20574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04119" y="3428999"/>
            <a:ext cx="205740" cy="20574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030986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969264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98380" y="363473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104119" y="363473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030986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92640" y="3840479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98380" y="384047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104119" y="384047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309860" y="3840479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95510" y="4046220"/>
            <a:ext cx="102870" cy="20574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98380" y="4046220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04119" y="4046220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309860" y="4046220"/>
            <a:ext cx="205740" cy="10287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607040" y="3428999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060704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0812780" y="3428999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0"/>
                </a:moveTo>
                <a:lnTo>
                  <a:pt x="205739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1018519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122426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060704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0812780" y="3634739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205740"/>
                </a:moveTo>
                <a:lnTo>
                  <a:pt x="0" y="0"/>
                </a:lnTo>
                <a:lnTo>
                  <a:pt x="205739" y="20574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1018519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122426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0607040" y="384047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1224260" y="384047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07040" y="4046220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0812780" y="4046220"/>
            <a:ext cx="205739" cy="205739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0" y="0"/>
                </a:moveTo>
                <a:lnTo>
                  <a:pt x="205739" y="0"/>
                </a:lnTo>
                <a:lnTo>
                  <a:pt x="0" y="205739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1018519" y="4046220"/>
            <a:ext cx="205740" cy="205739"/>
          </a:xfrm>
          <a:custGeom>
            <a:avLst/>
            <a:gdLst/>
            <a:ahLst/>
            <a:cxnLst/>
            <a:rect l="l" t="t" r="r" b="b"/>
            <a:pathLst>
              <a:path w="205740" h="205739">
                <a:moveTo>
                  <a:pt x="205740" y="0"/>
                </a:moveTo>
                <a:lnTo>
                  <a:pt x="205740" y="205739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224260" y="4046220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692640" y="429768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898380" y="4297680"/>
            <a:ext cx="205740" cy="10287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06990" y="4297680"/>
            <a:ext cx="10287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692640" y="4606290"/>
            <a:ext cx="205740" cy="10287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898380" y="4503420"/>
            <a:ext cx="20574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104119" y="4503420"/>
            <a:ext cx="20574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309860" y="4503420"/>
            <a:ext cx="10287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9692640" y="47091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9898380" y="470916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104119" y="47091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0309860" y="47091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9692640" y="49149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9898380" y="491490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205740"/>
                </a:moveTo>
                <a:lnTo>
                  <a:pt x="0" y="0"/>
                </a:lnTo>
                <a:lnTo>
                  <a:pt x="205739" y="205740"/>
                </a:lnTo>
                <a:close/>
              </a:path>
            </a:pathLst>
          </a:cu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0104119" y="49149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0309860" y="49149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607040" y="429768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607040" y="4297680"/>
            <a:ext cx="205740" cy="10287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847069" y="433197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1052809" y="433197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327130" y="4297680"/>
            <a:ext cx="102870" cy="20574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607040" y="4503420"/>
            <a:ext cx="20574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915650" y="4503420"/>
            <a:ext cx="10287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1018519" y="4503420"/>
            <a:ext cx="205740" cy="10287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224260" y="4503420"/>
            <a:ext cx="20574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641330" y="4743450"/>
            <a:ext cx="137160" cy="13716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847069" y="474345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052809" y="474345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258550" y="4743450"/>
            <a:ext cx="137160" cy="13716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607040" y="4914900"/>
            <a:ext cx="205740" cy="10287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327130" y="4914900"/>
            <a:ext cx="10287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692640" y="516636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9692640" y="51663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932669" y="520065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138409" y="520065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0309860" y="51663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692640" y="537210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898380" y="5372100"/>
            <a:ext cx="205740" cy="10287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206990" y="5372100"/>
            <a:ext cx="102870" cy="2057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309860" y="537210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9692640" y="55778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898380" y="557784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104119" y="557784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0309860" y="55778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969264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030986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607040" y="516636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607040" y="5269230"/>
            <a:ext cx="205740" cy="10287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847069" y="520065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018519" y="5166360"/>
            <a:ext cx="205740" cy="2057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641330" y="540639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847069" y="5406390"/>
            <a:ext cx="137160" cy="13716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1018519" y="53721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1327130" y="5372100"/>
            <a:ext cx="102870" cy="2057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607040" y="5577840"/>
            <a:ext cx="205740" cy="10287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812780" y="5577840"/>
            <a:ext cx="205740" cy="10287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018519" y="557784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1224260" y="55778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060704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0812780" y="578358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0"/>
                </a:moveTo>
                <a:lnTo>
                  <a:pt x="205739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1018519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122426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A group chat, December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fictional · every name in this talk is made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6400800" cy="822960"/>
          </a:xfrm>
          <a:prstGeom prst="round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18488"/>
            <a:ext cx="5120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Inter"/>
              </a:rPr>
              <a:t>Guys, where's December's money?</a:t>
            </a:r>
          </a:p>
        </p:txBody>
      </p:sp>
      <p:sp>
        <p:nvSpPr>
          <p:cNvPr id="7" name="Oval 6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noFill/>
          <a:ln w="2540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65392" y="1792224"/>
            <a:ext cx="64008" cy="64008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0840" y="1792224"/>
            <a:ext cx="64008" cy="64008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565392" y="1965960"/>
            <a:ext cx="219456" cy="0"/>
          </a:xfrm>
          <a:prstGeom prst="line">
            <a:avLst/>
          </a:prstGeom>
          <a:ln w="25400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Priya · 09:41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2011680" cy="822960"/>
          </a:xfrm>
          <a:prstGeom prst="round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14630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Inter"/>
              </a:rPr>
              <a:t>Guys?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Priya · 09:58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2011680" cy="822960"/>
          </a:xfrm>
          <a:prstGeom prst="round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14630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Inter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Thabo is typing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011680"/>
            <a:ext cx="3657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B1426"/>
                </a:solidFill>
                <a:latin typeface="Space Grotesk"/>
              </a:rPr>
              <a:t>Every stokvel has this thread.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6576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B6578"/>
                </a:solidFill>
                <a:latin typeface="Inter"/>
              </a:rPr>
              <a:t>One spreadsheet, one banking app, one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NASASA, August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0B1426"/>
                </a:solidFill>
                <a:latin typeface="Space Grotesk"/>
              </a:rPr>
              <a:t>11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5B6578"/>
                </a:solidFill>
                <a:latin typeface="Inter"/>
              </a:rPr>
              <a:t>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0B1426"/>
                </a:solidFill>
                <a:latin typeface="Space Grotesk"/>
              </a:rPr>
              <a:t>810,000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5B6578"/>
                </a:solidFill>
                <a:latin typeface="Inter"/>
              </a:rPr>
              <a:t>stokvels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0B1426"/>
                </a:solidFill>
                <a:latin typeface="Space Grotesk"/>
              </a:rPr>
              <a:t>R50bn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5B6578"/>
                </a:solidFill>
                <a:latin typeface="Inter"/>
              </a:rPr>
              <a:t>saved a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B1426"/>
                </a:solidFill>
                <a:latin typeface="Space Grotesk"/>
              </a:rPr>
              <a:t>Fifty billion rand a year, moving on trust.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578"/>
                </a:solidFill>
                <a:latin typeface="JetBrains Mono"/>
              </a:rPr>
              <a:t>Source: NASASA via EWN, 14 Aug 2025 · ewn.co.za/2025/08/14/more-than-11-million-south-africans-are-members-of-stokvels-nasasa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Single point of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how it works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2763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Space Grotesk"/>
              </a:rPr>
              <a:t>The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JetBrains Mono"/>
              </a:rPr>
              <a:t>a notebook, a spreadsheet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65960"/>
            <a:ext cx="2651760" cy="1463040"/>
          </a:xfrm>
          <a:prstGeom prst="line">
            <a:avLst/>
          </a:prstGeom>
          <a:ln w="19050">
            <a:solidFill>
              <a:srgbClr val="5B6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278892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5351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Space Grotesk"/>
              </a:rPr>
              <a:t>The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558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JetBrains Mono"/>
              </a:rPr>
              <a:t>the treasurer's own account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0" y="3291839"/>
            <a:ext cx="2651760" cy="137161"/>
          </a:xfrm>
          <a:prstGeom prst="line">
            <a:avLst/>
          </a:prstGeom>
          <a:ln w="19050">
            <a:solidFill>
              <a:srgbClr val="5B6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" y="411480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7939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Space Grotesk"/>
              </a:rPr>
              <a:t>The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817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JetBrains Mono"/>
              </a:rPr>
              <a:t>the WhatsApp group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663440" y="3429000"/>
            <a:ext cx="2651760" cy="1188720"/>
          </a:xfrm>
          <a:prstGeom prst="line">
            <a:avLst/>
          </a:prstGeom>
          <a:ln w="19050">
            <a:solidFill>
              <a:srgbClr val="5B6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0" y="2514600"/>
            <a:ext cx="1828800" cy="1828800"/>
          </a:xfrm>
          <a:prstGeom prst="ellipse">
            <a:avLst/>
          </a:prstGeom>
          <a:noFill/>
          <a:ln w="25400">
            <a:solidFill>
              <a:srgbClr val="0B1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5146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B6578"/>
                </a:solidFill>
                <a:latin typeface="Space Grotesk"/>
              </a:rPr>
              <a:t>the</a:t>
            </a:r>
          </a:p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Space Grotesk"/>
              </a:rPr>
              <a:t>treasurer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51760"/>
            <a:ext cx="2011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One person.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Three jobs.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7333A"/>
                </a:solidFill>
                <a:latin typeface="Space Grotesk"/>
              </a:rPr>
              <a:t>No audit trail.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Investec doesn't sell a stokvel account. With Programmable Banking, it doesn't need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tern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sh-chain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The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Six volunteers, six cards, one constitution. Nobody types a name in: the chain knows each member from a signature.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Swipe and round-up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Aisha buys R87 of bread. The card rounds up to R90 and R3 lands on chain with her number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The whole payout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contracts/src/Stokvel.sol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2975" cy="4467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0176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18045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5913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73782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601650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057387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34440"/>
            <a:ext cx="10545775" cy="42845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function closeRound() external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uint256 owed = pot + unsettled;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reservesAt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==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B388EB"/>
                </a:solidFill>
                <a:latin typeface="JetBrains Mono"/>
              </a:rPr>
              <a:t>0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||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reservesAt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+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RESERVES_MAX_AGE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&lt;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block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.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timestamp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   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ReservesStale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reservesAt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,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notBefore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reservesCents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&lt;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owed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ReservesShort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reservesCents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,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owed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block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.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timestamp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&lt;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roundEndsAt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RoundStillOpen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roundEndsAt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uint8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recipient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=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uint8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round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%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members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.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length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uint256 cents = pot;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payouts[round] = Payout(recipient, cents == 0, cents, members[recipient].beneficiaryHash);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pot = 0;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unsettled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emit PayoutDue(round, recipient, cents, members[recipient].beneficiaryHash);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round += 1;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roundEndsAt = uint64(block.timestamp) + roundLength;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No function takes a recipient. </a:t>
            </a:r>
            <a:r>
              <a:rPr sz="2200" b="0" i="0">
                <a:solidFill>
                  <a:srgbClr val="0E9488"/>
                </a:solidFill>
                <a:latin typeface="JetBrains Mono"/>
              </a:rPr>
              <a:t>round % 6</a:t>
            </a:r>
            <a:r>
              <a:rPr sz="2200" b="0" i="0">
                <a:solidFill>
                  <a:srgbClr val="0B1426"/>
                </a:solidFill>
                <a:latin typeface="Space Grotesk"/>
              </a:rPr>
              <a:t>, always.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Month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The contract says who. Investec pays through the API. The chain records the bank's own payment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The treasurer steals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R1,000 leaves the account with the label “Admin fees”. Watch the payout freeze.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5 · Double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the one line between V1 and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02975" cy="3328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2325"/>
            <a:ext cx="54864" cy="2278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45775" cy="31451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function recordContribution(uint8 memberId, uint128 cents, bytes32 investecRef)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external onlyRelayer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B1426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seen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[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investecRef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])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0E9488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AlreadyRecorded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investecRef</a:t>
            </a:r>
            <a:r>
              <a:rPr sz="1400" b="0" i="0">
                <a:solidFill>
                  <a:srgbClr val="0B1426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if (memberId &gt;= members.length) revert UnknownMember(memberId);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if (cents &gt; MAX_CONTRIBUTION_CENTS) revert AmountTooLarge(cents, MAX_CONTRIBUTION_CENTS);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seen[investecRef] = true;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members[memberId].paidCents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pot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totalIn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    emit ContributionRecorded(round, memberId, cents, investecRef);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0BE"/>
                </a:solidFill>
                <a:latin typeface="JetBrains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B6578"/>
                </a:solidFill>
                <a:latin typeface="Inter"/>
              </a:rPr>
              <a:t>V1 is this function without line 4. Same bank transaction, sent twice: V1 counts it twice, V2 says no.</a:t>
            </a:r>
          </a:p>
        </p:txBody>
      </p:sp>
      <p:sp>
        <p:nvSpPr>
          <p:cNvPr id="9" name="Rectangle 8"/>
          <p:cNvSpPr/>
          <p:nvPr/>
        </p:nvSpPr>
        <p:spPr>
          <a:xfrm rot="21360000">
            <a:off x="9326880" y="5577840"/>
            <a:ext cx="1964131" cy="570585"/>
          </a:xfrm>
          <a:prstGeom prst="rect">
            <a:avLst/>
          </a:prstGeom>
          <a:noFill/>
          <a:ln w="28575">
            <a:solidFill>
              <a:srgbClr val="D7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360000">
            <a:off x="9372600" y="5623559"/>
            <a:ext cx="1872691" cy="479145"/>
          </a:xfrm>
          <a:prstGeom prst="rect">
            <a:avLst/>
          </a:prstGeom>
          <a:noFill/>
          <a:ln w="9525">
            <a:solidFill>
              <a:srgbClr val="D7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21360000">
            <a:off x="9326880" y="5577840"/>
            <a:ext cx="1964131" cy="5705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7333A"/>
                </a:solidFill>
                <a:latin typeface="Space Grotesk"/>
              </a:rPr>
              <a:t>REFUSED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6 · The fuzzer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✂ can be cut for a 20 minute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B1426"/>
                </a:solidFill>
                <a:latin typeface="Space Grotesk"/>
              </a:rPr>
              <a:t>Four invariants, 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03520" cy="2377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0E9488"/>
                </a:solidFill>
                <a:latin typeface="JetBrains Mono"/>
              </a:rPr>
              <a:t>1  </a:t>
            </a:r>
            <a:r>
              <a:rPr sz="1500" b="0" i="0">
                <a:solidFill>
                  <a:srgbClr val="0B1426"/>
                </a:solidFill>
                <a:latin typeface="JetBrains Mono"/>
              </a:rPr>
              <a:t>sum(paidCents) == totalIn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0E9488"/>
                </a:solidFill>
                <a:latin typeface="JetBrains Mono"/>
              </a:rPr>
              <a:t>2  </a:t>
            </a:r>
            <a:r>
              <a:rPr sz="1500" b="0" i="0">
                <a:solidFill>
                  <a:srgbClr val="0B1426"/>
                </a:solidFill>
                <a:latin typeface="JetBrains Mono"/>
              </a:rPr>
              <a:t>totalIn - settledOut == pot + unsettled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0E9488"/>
                </a:solidFill>
                <a:latin typeface="JetBrains Mono"/>
              </a:rPr>
              <a:t>3  </a:t>
            </a:r>
            <a:r>
              <a:rPr sz="1500" b="0" i="0">
                <a:solidFill>
                  <a:srgbClr val="0B1426"/>
                </a:solidFill>
                <a:latin typeface="JetBrains Mono"/>
              </a:rPr>
              <a:t>no Investec ref is ever used twice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0E9488"/>
                </a:solidFill>
                <a:latin typeface="JetBrains Mono"/>
              </a:rPr>
              <a:t>4  </a:t>
            </a:r>
            <a:r>
              <a:rPr sz="1500" b="0" i="0">
                <a:solidFill>
                  <a:srgbClr val="0B1426"/>
                </a:solidFill>
                <a:latin typeface="JetBrains Mono"/>
              </a:rPr>
              <a:t>no close while reserves &lt; 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5303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B6578"/>
                </a:solidFill>
                <a:latin typeface="Inter"/>
              </a:rPr>
              <a:t>10,000 random months: contributions, duplicate webhooks, theft, refunds, time travel, closes, payouts.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4983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4663440" cy="2743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B1426"/>
                </a:solidFill>
                <a:latin typeface="JetBrains Mono"/>
              </a:rPr>
              <a:t>$ ./scripts/fuzz.sh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578"/>
                </a:solidFill>
                <a:latin typeface="JetBrains Mon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7333A"/>
                </a:solidFill>
                <a:latin typeface="JetBrains Mono"/>
              </a:rPr>
              <a:t>[FAIL: an Investec ref was recorded twice: 2 != 1]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578"/>
                </a:solidFill>
                <a:latin typeface="JetBrains Mono"/>
              </a:rPr>
              <a:t>  contribute(uint8,uint128) args=[156, 2592000]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578"/>
                </a:solidFill>
                <a:latin typeface="JetBrains Mono"/>
              </a:rPr>
              <a:t>  duplicateWebhook(uint256) args=[3]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7333A"/>
                </a:solidFill>
                <a:latin typeface="JetBrains Mono"/>
              </a:rPr>
              <a:t>[FAIL: totalIn != what the bank received: 1184000 != 592000]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578"/>
                </a:solidFill>
                <a:latin typeface="JetBrains Mon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7333A"/>
                </a:solidFill>
                <a:latin typeface="JetBrains Mono"/>
              </a:rPr>
              <a:t>Suite result: FAILED. 3 passed; 2 failed  (V1)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9E6A"/>
                </a:solidFill>
                <a:latin typeface="JetBrains Mono"/>
              </a:rPr>
              <a:t>Suite result: ok.     5 passed; 0 failed  (V2)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Write down what must always be true. Let a machine try to make it false.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Vote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Four cards sign one English sentence: “raise the contribution from R5,000 to R6,000”. Then a timelock. Then it's the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Stolen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The thief holds Sipho's key. The committee moves Sipho to a spare card, and the stolen one stops being anyone.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Demo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live · sandbox and testnet only  ·  ✂ can be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A9B0BE"/>
                </a:solidFill>
                <a:latin typeface="Space Grotesk"/>
              </a:rPr>
              <a:t>DEMO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1426"/>
                </a:solidFill>
                <a:latin typeface="Space Grotesk"/>
              </a:rPr>
              <a:t>Kill the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5B6578"/>
                </a:solidFill>
                <a:latin typeface="Inter"/>
              </a:rPr>
              <a:t>The relayer dies on stage. The book is still on the shelf: every screen rebuilds from chain events, and nothing is sent twice.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Honest limits,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said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D7333A"/>
                </a:solidFill>
                <a:latin typeface="Space Grotesk"/>
              </a:rPr>
              <a:t>What this doesn't 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74519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84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Trusted relayer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it reports what the bank did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743200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852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Group account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six people on one key is a demo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611879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721607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No tokenised 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7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yet, on purpose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4480559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590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QR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5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should be passkeys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E9488"/>
                </a:solidFill>
                <a:latin typeface="Space Grotesk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1874519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1984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Passkeys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a phone that signs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09360" y="2743200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09360" y="2852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A real club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00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with the bank's own controls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3611879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09360" y="3721607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Rage-quit and late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6907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the rules a real stokvel has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09360" y="4480559"/>
            <a:ext cx="4937760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4590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B1426"/>
                </a:solidFill>
                <a:latin typeface="Space Grotesk"/>
              </a:rPr>
              <a:t>Tokenised 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3775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578"/>
                </a:solidFill>
                <a:latin typeface="Inter"/>
              </a:rPr>
              <a:t>when a bank stands behind one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578"/>
                </a:solidFill>
                <a:latin typeface="JetBrains Mono"/>
              </a:rPr>
              <a:t>With thanks to Peter Smythe · github.com/petersmythe/invapi-dual-auth · github.com/petersmythe/investec-swipe-n-save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7680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1426"/>
                </a:solidFill>
                <a:latin typeface="Space Grotesk"/>
              </a:rPr>
              <a:t>We didn't replace the trust.</a:t>
            </a:r>
          </a:p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E9488"/>
                </a:solidFill>
                <a:latin typeface="Space Grotesk"/>
              </a:rPr>
              <a:t>We wrote it down where nobody can erase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B6578"/>
                </a:solidFill>
                <a:latin typeface="Inter"/>
              </a:rPr>
              <a:t>Thank you, committee.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8690" y="47091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4420" y="47091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8348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4869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07442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" y="48348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0234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8690" y="49606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4420" y="50234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49606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2296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0863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7285" y="50863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20015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Lerato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4709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8313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30886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05740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3130" y="48348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08860" y="48348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43459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05740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18313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30886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43459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05740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3130" y="50863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08860" y="50863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3459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Thabo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709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47091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41757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54330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9030" y="47091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4705" y="48348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17570" y="48348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6165" y="48348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69030" y="48348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29184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38525" y="49815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4330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69030" y="49606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29184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7570" y="50863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54330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69030" y="50863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Aisha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709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52628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65201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77774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90347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52628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65201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77774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90347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52628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90347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26280" y="50863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65201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77774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03470" y="50863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Johan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4709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60720" y="47091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07405" y="47301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33135" y="47301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0775" y="47091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760720" y="48348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49315" y="48348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12180" y="48348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37910" y="48348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781675" y="49815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07405" y="49815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033135" y="49815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58865" y="49815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50863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00775" y="50863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072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Priya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95160" y="4709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95160" y="47720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141845" y="47301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246620" y="47091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016115" y="48558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141845" y="48558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24662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35215" y="48348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95160" y="49606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120890" y="49606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6620" y="49606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372350" y="4960620"/>
            <a:ext cx="125729" cy="125730"/>
          </a:xfrm>
          <a:custGeom>
            <a:avLst/>
            <a:gdLst/>
            <a:ahLst/>
            <a:cxnLst/>
            <a:rect l="l" t="t" r="r" b="b"/>
            <a:pathLst>
              <a:path w="125729" h="125730">
                <a:moveTo>
                  <a:pt x="0" y="0"/>
                </a:moveTo>
                <a:lnTo>
                  <a:pt x="125729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699516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712089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24662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372350" y="5086350"/>
            <a:ext cx="125729" cy="125730"/>
          </a:xfrm>
          <a:custGeom>
            <a:avLst/>
            <a:gdLst/>
            <a:ahLst/>
            <a:cxnLst/>
            <a:rect l="l" t="t" r="r" b="b"/>
            <a:pathLst>
              <a:path w="125729" h="125730">
                <a:moveTo>
                  <a:pt x="125729" y="0"/>
                </a:moveTo>
                <a:lnTo>
                  <a:pt x="125729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9516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578"/>
                </a:solidFill>
                <a:latin typeface="JetBrains Mono"/>
              </a:rPr>
              <a:t>Sipho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98280" y="1280160"/>
            <a:ext cx="2286000" cy="2286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qr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371600"/>
            <a:ext cx="2103120" cy="21031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412480" y="3703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578"/>
                </a:solidFill>
                <a:latin typeface="JetBrains Mono"/>
              </a:rPr>
              <a:t>github.com/Nevvyboi/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578"/>
                </a:solidFill>
                <a:latin typeface="JetBrains Mono"/>
              </a:rPr>
              <a:t>StokvelProgrammableBankingWithSolidity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one command runs the whole demo: ./scripts/demo.sh --mock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11135" y="6263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Space Grotesk"/>
              </a:rPr>
              <a:t>Appendix ·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for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755648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2801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Dodgy treasurer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“pay me this month”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no recipient setter; vote plus timelock</a:t>
            </a:r>
          </a:p>
        </p:txBody>
      </p:sp>
      <p:sp>
        <p:nvSpPr>
          <p:cNvPr id="9" name="Rectangle 8"/>
          <p:cNvSpPr/>
          <p:nvPr/>
        </p:nvSpPr>
        <p:spPr>
          <a:xfrm rot="21420000">
            <a:off x="10058400" y="1261872"/>
            <a:ext cx="1360627" cy="285292"/>
          </a:xfrm>
          <a:prstGeom prst="rect">
            <a:avLst/>
          </a:prstGeom>
          <a:noFill/>
          <a:ln w="2857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20000">
            <a:off x="10104120" y="1307592"/>
            <a:ext cx="1269187" cy="193852"/>
          </a:xfrm>
          <a:prstGeom prst="rect">
            <a:avLst/>
          </a:prstGeom>
          <a:noFill/>
          <a:ln w="952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21420000">
            <a:off x="10058400" y="1261872"/>
            <a:ext cx="1360627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9E6A"/>
                </a:solidFill>
                <a:latin typeface="Space Grotesk"/>
              </a:rPr>
              <a:t>NO SETTER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2414016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1938528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Dodgy treasurer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385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takes rand out of the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3852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ReservesShort freezes payouts</a:t>
            </a:r>
          </a:p>
        </p:txBody>
      </p:sp>
      <p:sp>
        <p:nvSpPr>
          <p:cNvPr id="16" name="Rectangle 15"/>
          <p:cNvSpPr/>
          <p:nvPr/>
        </p:nvSpPr>
        <p:spPr>
          <a:xfrm rot="21420000">
            <a:off x="10058400" y="1920240"/>
            <a:ext cx="998524" cy="285292"/>
          </a:xfrm>
          <a:prstGeom prst="rect">
            <a:avLst/>
          </a:prstGeom>
          <a:noFill/>
          <a:ln w="28575">
            <a:solidFill>
              <a:srgbClr val="D7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20000">
            <a:off x="10104120" y="1965960"/>
            <a:ext cx="907084" cy="193852"/>
          </a:xfrm>
          <a:prstGeom prst="rect">
            <a:avLst/>
          </a:prstGeom>
          <a:noFill/>
          <a:ln w="9525">
            <a:solidFill>
              <a:srgbClr val="D7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21420000">
            <a:off x="10058400" y="1920240"/>
            <a:ext cx="998524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7333A"/>
                </a:solidFill>
                <a:latin typeface="Space Grotesk"/>
              </a:rPr>
              <a:t>FROZEN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072384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2596896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Compromised relayer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596896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records a payment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96896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seen[ref]: AlreadyRecorded</a:t>
            </a:r>
          </a:p>
        </p:txBody>
      </p:sp>
      <p:sp>
        <p:nvSpPr>
          <p:cNvPr id="23" name="Rectangle 22"/>
          <p:cNvSpPr/>
          <p:nvPr/>
        </p:nvSpPr>
        <p:spPr>
          <a:xfrm rot="21420000">
            <a:off x="10058400" y="2578608"/>
            <a:ext cx="1119225" cy="285292"/>
          </a:xfrm>
          <a:prstGeom prst="rect">
            <a:avLst/>
          </a:prstGeom>
          <a:noFill/>
          <a:ln w="28575">
            <a:solidFill>
              <a:srgbClr val="D7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1420000">
            <a:off x="10104120" y="2624328"/>
            <a:ext cx="1027785" cy="193852"/>
          </a:xfrm>
          <a:prstGeom prst="rect">
            <a:avLst/>
          </a:prstGeom>
          <a:noFill/>
          <a:ln w="9525">
            <a:solidFill>
              <a:srgbClr val="D73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 rot="21420000">
            <a:off x="10058400" y="2578608"/>
            <a:ext cx="1119225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7333A"/>
                </a:solidFill>
                <a:latin typeface="Space Grotesk"/>
              </a:rPr>
              <a:t>REFUSED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3730752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3255264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Compromised relayer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5526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invents a huge 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25526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AmountTooLarge cap; short at close</a:t>
            </a:r>
          </a:p>
        </p:txBody>
      </p:sp>
      <p:sp>
        <p:nvSpPr>
          <p:cNvPr id="30" name="Rectangle 29"/>
          <p:cNvSpPr/>
          <p:nvPr/>
        </p:nvSpPr>
        <p:spPr>
          <a:xfrm rot="21420000">
            <a:off x="10058400" y="3236976"/>
            <a:ext cx="998524" cy="285292"/>
          </a:xfrm>
          <a:prstGeom prst="rect">
            <a:avLst/>
          </a:prstGeom>
          <a:noFill/>
          <a:ln w="2857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20000">
            <a:off x="10104120" y="3282696"/>
            <a:ext cx="907084" cy="193852"/>
          </a:xfrm>
          <a:prstGeom prst="rect">
            <a:avLst/>
          </a:prstGeom>
          <a:noFill/>
          <a:ln w="952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 rot="21420000">
            <a:off x="10058400" y="3236976"/>
            <a:ext cx="998524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9E6A"/>
                </a:solidFill>
                <a:latin typeface="Space Grotesk"/>
              </a:rPr>
              <a:t>CAPPED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4389120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3913631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Compromised relayer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913631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pays the wrong person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913631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beneficiaryHash check; vote it out</a:t>
            </a:r>
          </a:p>
        </p:txBody>
      </p:sp>
      <p:sp>
        <p:nvSpPr>
          <p:cNvPr id="37" name="Rectangle 36"/>
          <p:cNvSpPr/>
          <p:nvPr/>
        </p:nvSpPr>
        <p:spPr>
          <a:xfrm rot="21420000">
            <a:off x="10058400" y="3895344"/>
            <a:ext cx="1119225" cy="285292"/>
          </a:xfrm>
          <a:prstGeom prst="rect">
            <a:avLst/>
          </a:prstGeom>
          <a:noFill/>
          <a:ln w="2857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420000">
            <a:off x="10104120" y="3941063"/>
            <a:ext cx="1027785" cy="193852"/>
          </a:xfrm>
          <a:prstGeom prst="rect">
            <a:avLst/>
          </a:prstGeom>
          <a:noFill/>
          <a:ln w="952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 rot="21420000">
            <a:off x="10058400" y="3895344"/>
            <a:ext cx="1119225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9E6A"/>
                </a:solidFill>
                <a:latin typeface="Space Grotesk"/>
              </a:rPr>
              <a:t>CHECKED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5047488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4571999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Vote thief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571999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replays an old signed vote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571999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EIP-712 domain, per-signer nonce</a:t>
            </a:r>
          </a:p>
        </p:txBody>
      </p:sp>
      <p:sp>
        <p:nvSpPr>
          <p:cNvPr id="44" name="Rectangle 43"/>
          <p:cNvSpPr/>
          <p:nvPr/>
        </p:nvSpPr>
        <p:spPr>
          <a:xfrm rot="21420000">
            <a:off x="10058400" y="4553712"/>
            <a:ext cx="877824" cy="285292"/>
          </a:xfrm>
          <a:prstGeom prst="rect">
            <a:avLst/>
          </a:prstGeom>
          <a:noFill/>
          <a:ln w="2857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1420000">
            <a:off x="10104120" y="4599431"/>
            <a:ext cx="786384" cy="193852"/>
          </a:xfrm>
          <a:prstGeom prst="rect">
            <a:avLst/>
          </a:prstGeom>
          <a:noFill/>
          <a:ln w="952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 rot="21420000">
            <a:off x="10058400" y="4553712"/>
            <a:ext cx="877824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9E6A"/>
                </a:solidFill>
                <a:latin typeface="Space Grotesk"/>
              </a:rPr>
              <a:t>NONCE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" y="5705856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5230368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1426"/>
                </a:solidFill>
                <a:latin typeface="Space Grotesk"/>
              </a:rPr>
              <a:t>Stolen member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23036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1426"/>
                </a:solidFill>
                <a:latin typeface="Inter"/>
              </a:rPr>
              <a:t>votes as the victim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23036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578"/>
                </a:solidFill>
                <a:latin typeface="Inter"/>
              </a:rPr>
              <a:t>RotateKey to a spare card</a:t>
            </a:r>
          </a:p>
        </p:txBody>
      </p:sp>
      <p:sp>
        <p:nvSpPr>
          <p:cNvPr id="51" name="Rectangle 50"/>
          <p:cNvSpPr/>
          <p:nvPr/>
        </p:nvSpPr>
        <p:spPr>
          <a:xfrm rot="21420000">
            <a:off x="10058400" y="5212080"/>
            <a:ext cx="1119225" cy="285292"/>
          </a:xfrm>
          <a:prstGeom prst="rect">
            <a:avLst/>
          </a:prstGeom>
          <a:noFill/>
          <a:ln w="2857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1420000">
            <a:off x="10104120" y="5257800"/>
            <a:ext cx="1027785" cy="193852"/>
          </a:xfrm>
          <a:prstGeom prst="rect">
            <a:avLst/>
          </a:prstGeom>
          <a:noFill/>
          <a:ln w="9525">
            <a:solidFill>
              <a:srgbClr val="1B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 rot="21420000">
            <a:off x="10058400" y="5212080"/>
            <a:ext cx="1119225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9E6A"/>
                </a:solidFill>
                <a:latin typeface="Space Grotesk"/>
              </a:rPr>
              <a:t>ROTATED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C9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578"/>
                </a:solidFill>
                <a:latin typeface="JetBrains Mono"/>
              </a:rPr>
              <a:t>docs/SECURITY.md has the full model, the invariants and the Slither results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