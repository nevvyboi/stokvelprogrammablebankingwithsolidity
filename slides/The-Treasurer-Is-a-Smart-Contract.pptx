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[Walk on with one member card in your hand. Hold it up. Let the room see it before you speak.]</a:t>
            </a:r>
          </a:p>
          <a:p/>
          <a:p>
            <a:r>
              <a:t>Evening, everybody. Howzit.</a:t>
            </a:r>
          </a:p>
          <a:p/>
          <a:p>
            <a:r>
              <a:t>[Hold the card a moment longer.]</a:t>
            </a:r>
          </a:p>
          <a:p/>
          <a:p>
            <a:r>
              <a:t>This is a stokvel membership card. Six of you are going to get one of these in a few minutes.</a:t>
            </a:r>
          </a:p>
          <a:p>
            <a:r>
              <a:t>And by the end of this talk, this card is going to get stolen.</a:t>
            </a:r>
          </a:p>
          <a:p/>
          <a:p>
            <a:r>
              <a:t>[Pocket it.]</a:t>
            </a:r>
          </a:p>
          <a:p/>
          <a:p>
            <a:r>
              <a:t>I'm Nevin. I'm a data engineer, I'm doing my MSc at night, and I build things on Programmable</a:t>
            </a:r>
          </a:p>
          <a:p>
            <a:r>
              <a:t>Banking that my friends think are slightly unhinged. Tonight's one is called [The Treasurer Is a</a:t>
            </a:r>
          </a:p>
          <a:p>
            <a:r>
              <a:t>Smart Contract].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shows the fictional WhatsApp thread. Read it in the voice of someone who's been holding</a:t>
            </a:r>
          </a:p>
          <a:p>
            <a:r>
              <a:t>that question in for a week.]</a:t>
            </a:r>
          </a:p>
          <a:p/>
          <a:p>
            <a:r>
              <a:t>"Guys. Where's December's money."</a:t>
            </a:r>
          </a:p>
          <a:p/>
          <a:p>
            <a:r>
              <a:t>[Beat.]</a:t>
            </a:r>
          </a:p>
          <a:p/>
          <a:p>
            <a:r>
              <a:t>"Guys?"</a:t>
            </a:r>
          </a:p>
          <a:p/>
          <a:p>
            <a:r>
              <a:t>[Beat.]</a:t>
            </a:r>
          </a:p>
          <a:p/>
          <a:p>
            <a:r>
              <a:t>That little face at the end. Every South African knows that face.</a:t>
            </a:r>
          </a:p>
          <a:p/>
          <a:p>
            <a:r>
              <a:t>If you have ever been in a stokvel, or your mother has, or your aunt runs one, you know exactly</a:t>
            </a:r>
          </a:p>
          <a:p>
            <a:r>
              <a:t>what happened here. Somebody has a spreadsheet. Somebody has the banking app. Somebody's cousin</a:t>
            </a:r>
          </a:p>
          <a:p>
            <a:r>
              <a:t>needed a small loan in November. And now it's December, and the question in the group has no</a:t>
            </a:r>
          </a:p>
          <a:p>
            <a:r>
              <a:t>answer.</a:t>
            </a:r>
          </a:p>
          <a:p/>
          <a:p>
            <a:r>
              <a:t>[✂️ Show of hands. Skip this if you are tight on time.]</a:t>
            </a:r>
          </a:p>
          <a:p/>
          <a:p>
            <a:r>
              <a:t>Quick show of hands. Who here is in a stokvel? Keep them up. Who is in one where you personally</a:t>
            </a:r>
          </a:p>
          <a:p>
            <a:r>
              <a:t>have never seen the bank statement? [Look around.] Ja. That's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[The three numbers land one at a time.]</a:t>
            </a:r>
          </a:p>
          <a:p/>
          <a:p>
            <a:r>
              <a:t>Let's be honest about how big this is, because I think in a room of developers we underrate it.</a:t>
            </a:r>
          </a:p>
          <a:p/>
          <a:p>
            <a:r>
              <a:t>Eleven million members. Eight hundred and ten thousand stokvels. Roughly fifty billion rand a</a:t>
            </a:r>
          </a:p>
          <a:p>
            <a:r>
              <a:t>year. That's NASASA's count from August last year, and it's on the slide so you can check me.</a:t>
            </a:r>
          </a:p>
          <a:p/>
          <a:p>
            <a:r>
              <a:t>Fifty billion rand, moving every year, on trust. Not on contracts. Not on software. On the fact</a:t>
            </a:r>
          </a:p>
          <a:p>
            <a:r>
              <a:t>that Thandi is a good person and everybody knows her.</a:t>
            </a:r>
          </a:p>
          <a:p/>
          <a:p>
            <a:r>
              <a:t>And the thing is, Thandi usually is a good person. That's not the problem. The problem is that</a:t>
            </a:r>
          </a:p>
          <a:p>
            <a:r>
              <a:t>the whole system only works when she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[The diagram: ledger, money and rules, all with arrows into one person.]</a:t>
            </a:r>
          </a:p>
          <a:p/>
          <a:p>
            <a:r>
              <a:t>Look at where everything goes. The ledger, who paid what, lives in the treasurer's head or in</a:t>
            </a:r>
          </a:p>
          <a:p>
            <a:r>
              <a:t>her notebook. The money lives in the treasurer's bank account, because the group needs an</a:t>
            </a:r>
          </a:p>
          <a:p>
            <a:r>
              <a:t>account and it's easier if it's hers. And the rules, whose turn it is, what happens if you're</a:t>
            </a:r>
          </a:p>
          <a:p>
            <a:r>
              <a:t>late, live in the WhatsApp group. Which the treasurer admins.</a:t>
            </a:r>
          </a:p>
          <a:p/>
          <a:p>
            <a:r>
              <a:t>One person. Three jobs. No audit trail.</a:t>
            </a:r>
          </a:p>
          <a:p/>
          <a:p>
            <a:r>
              <a:t>Now here's what I want you to notice. Investec doesn't sell a stokvel account. FNB does,</a:t>
            </a:r>
          </a:p>
          <a:p>
            <a:r>
              <a:t>Standard Bank does, Nedbank does. Investec doesn't. And I'm going to argue tonight that with</a:t>
            </a:r>
          </a:p>
          <a:p>
            <a:r>
              <a:t>Programmable Banking, it doesn't need to. Because the interesting bit was never the account.</a:t>
            </a:r>
          </a:p>
          <a:p>
            <a:r>
              <a:t>The interesting bit is the treasurer.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[The diagram with three words: Money, Rules, Messages.]</a:t>
            </a:r>
          </a:p>
          <a:p/>
          <a:p>
            <a:r>
              <a:t>Here's the whole idea in one sentence. Investec holds the rand. The blockchain holds the</a:t>
            </a:r>
          </a:p>
          <a:p>
            <a:r>
              <a:t>rulebook. And a small program called a relayer carries messages between them, and it is not</a:t>
            </a:r>
          </a:p>
          <a:p>
            <a:r>
              <a:t>allowed to make decisions.</a:t>
            </a:r>
          </a:p>
          <a:p/>
          <a:p>
            <a:r>
              <a:t>Three pieces. What matters is what each one can't do.</a:t>
            </a:r>
          </a:p>
          <a:p/>
          <a:p>
            <a:r>
              <a:t>The bank holds every cent. Nothing on the chain ever holds money. There is no token, there is no</a:t>
            </a:r>
          </a:p>
          <a:p>
            <a:r>
              <a:t>coin, there's nothing to buy. If you came here for crypto, I'm sorry, there's wine at the back.</a:t>
            </a:r>
          </a:p>
          <a:p/>
          <a:p>
            <a:r>
              <a:t>The contract holds the record and the rules. Who paid. Whose turn it is. What the club is owed.</a:t>
            </a:r>
          </a:p>
          <a:p>
            <a:r>
              <a:t>And it refuses anything that breaks a rule. We'll make it refuse a lot tonight.</a:t>
            </a:r>
          </a:p>
          <a:p/>
          <a:p>
            <a:r>
              <a:t>And the relayer, the messenger, reads the bank and tells the chain, reads the chain and tells the</a:t>
            </a:r>
          </a:p>
          <a:p>
            <a:r>
              <a:t>bank. It cannot choose who gets paid. It cannot invent a balance. And if it lies, the contract</a:t>
            </a:r>
          </a:p>
          <a:p>
            <a:r>
              <a:t>catches it, and the members can vote it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[The hash chain animates: five blocks, then the second one changes and the rest go red.]</a:t>
            </a:r>
          </a:p>
          <a:p/>
          <a:p>
            <a:r>
              <a:t>I'm going to do blockchain in one minute, and then I'm never going to say the word "blockchain"</a:t>
            </a:r>
          </a:p>
          <a:p>
            <a:r>
              <a:t>again, because I know it makes some of you tired.</a:t>
            </a:r>
          </a:p>
          <a:p/>
          <a:p>
            <a:r>
              <a:t>A chain is a list of records where each record carries a fingerprint of the one before it. That</a:t>
            </a:r>
          </a:p>
          <a:p>
            <a:r>
              <a:t>fingerprint is a hash. Change one number in block two, and block two's fingerprint changes, and</a:t>
            </a:r>
          </a:p>
          <a:p>
            <a:r>
              <a:t>block three was carrying the old one, so now three is wrong, and four, and five. Everything</a:t>
            </a:r>
          </a:p>
          <a:p>
            <a:r>
              <a:t>after the edit breaks.</a:t>
            </a:r>
          </a:p>
          <a:p/>
          <a:p>
            <a:r>
              <a:t>[Point at the red row.]</a:t>
            </a:r>
          </a:p>
          <a:p/>
          <a:p>
            <a:r>
              <a:t>Then you give the same list to thousands of computers, so that to change one line you'd have to</a:t>
            </a:r>
          </a:p>
          <a:p>
            <a:r>
              <a:t>fool all of them at once.</a:t>
            </a:r>
          </a:p>
          <a:p/>
          <a:p>
            <a:r>
              <a:t>That's it. That's the whole property we want. Not money. Not tokens. Just a notebook that</a:t>
            </a:r>
          </a:p>
          <a:p>
            <a:r>
              <a:t>nobody can quietly rewrite. A treasurer's book, kept in public.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[Pick up the stack of six cards. This is the safety line moment.]</a:t>
            </a:r>
          </a:p>
          <a:p/>
          <a:p>
            <a:r>
              <a:t>Right. Volunteers. I need six people who are prepared to be in a stokvel with strangers for</a:t>
            </a:r>
          </a:p>
          <a:p>
            <a:r>
              <a:t>twenty minutes.</a:t>
            </a:r>
          </a:p>
          <a:p/>
          <a:p>
            <a:r>
              <a:t>[Hand out the cards as they come up. Read the names off the cards: Lerato, Thabo, Aisha, Johan,</a:t>
            </a:r>
          </a:p>
          <a:p>
            <a:r>
              <a:t>Priya, Sipho. Give each person their number.]</a:t>
            </a:r>
          </a:p>
          <a:p/>
          <a:p>
            <a:r>
              <a:t>Before anything moves: everything you see tonight is a simulated bank and a private test chain.</a:t>
            </a:r>
          </a:p>
          <a:p>
            <a:r>
              <a:t>There is no real money here and no real person's data. These names are made up. These keys are</a:t>
            </a:r>
          </a:p>
          <a:p>
            <a:r>
              <a:t>worth nothing. Treat the card like cash anyway, because that's the habit we're teaching.</a:t>
            </a:r>
          </a:p>
          <a:p/>
          <a:p>
            <a:r>
              <a:t>[Turn to the projector.]</a:t>
            </a:r>
          </a:p>
          <a:p/>
          <a:p>
            <a:r>
              <a:t>This is the treasurer's book. Left page, the Investec account. Right page, the chain. Both of</a:t>
            </a:r>
          </a:p>
          <a:p>
            <a:r>
              <a:t>them live, both of them public.</a:t>
            </a:r>
          </a:p>
          <a:p/>
          <a:p>
            <a:r>
              <a:t>Committee, take out your phones. Turn your card over and point your camera at the QR on the</a:t>
            </a:r>
          </a:p>
          <a:p>
            <a:r>
              <a:t>back. Tap the link it offers.</a:t>
            </a:r>
          </a:p>
          <a:p/>
          <a:p>
            <a:r>
              <a:t>Volunteers' phones: each opens /sign holding their card. Lerato's slip says "Lerato signs the</a:t>
            </a:r>
          </a:p>
          <a:p>
            <a:r>
              <a:t>constitution of The Q4 Stokvel."</a:t>
            </a:r>
          </a:p>
          <a:p/>
          <a:p>
            <a:r>
              <a:t>Lerato, read me what your phone says.</a:t>
            </a:r>
          </a:p>
          <a:p/>
          <a:p>
            <a:r>
              <a:t>[She reads it.]</a:t>
            </a:r>
          </a:p>
          <a:p/>
          <a:p>
            <a:r>
              <a:t>Look at the sentence. Not a hex string. English. That's what her card is signing, and the</a:t>
            </a:r>
          </a:p>
          <a:p>
            <a:r>
              <a:t>contract only accepts it because that card is member one. Press Sign.</a:t>
            </a:r>
          </a:p>
          <a:p/>
          <a:p>
            <a:r>
              <a:t>[Wait for the minute book line: "Member joined", and "✓ signed in" next to Lerato on the roster.]</a:t>
            </a:r>
          </a:p>
          <a:p/>
          <a:p>
            <a:r>
              <a:t>And there she is on the right page. Signed in. Nobody typed her name in. The chain knows her</a:t>
            </a:r>
          </a:p>
          <a:p>
            <a:r>
              <a:t>from the signature. Everybody else on the committee: Sign.</a:t>
            </a:r>
          </a:p>
          <a:p/>
          <a:p>
            <a:r>
              <a:t>[The other five land in a few seconds. Talk over it. If a phone won't scan, that card goes to</a:t>
            </a:r>
          </a:p>
          <a:p>
            <a:r>
              <a:t>the signing station at the side.]</a:t>
            </a:r>
          </a:p>
          <a:p/>
          <a:p>
            <a:r>
              <a:t>While they sign, everybody else: scan the QR on the screen. That's the audience page. Read only,</a:t>
            </a:r>
          </a:p>
          <a:p>
            <a:r>
              <a:t>the same record the projector shows, live on your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[Aisha's turn. The card in her hand is the stokvel card; the swipe is on the card simulator.]</a:t>
            </a:r>
          </a:p>
          <a:p/>
          <a:p>
            <a:r>
              <a:t>Aisha, you're going to buy something. R87 at the bakery.</a:t>
            </a:r>
          </a:p>
          <a:p/>
          <a:p>
            <a:r>
              <a:t>Run sheet: swipe aisha 87</a:t>
            </a:r>
          </a:p>
          <a:p/>
          <a:p>
            <a:r>
              <a:t>That button runs the actual card code, the file called main.js, the way Investec's card runtime</a:t>
            </a:r>
          </a:p>
          <a:p>
            <a:r>
              <a:t>would run it. It's about sixty lines, and it's in the repo. After the transaction goes through,</a:t>
            </a:r>
          </a:p>
          <a:p>
            <a:r>
              <a:t>it rounds the amount up to the next ten rand, so R87 becomes R90, and it transfers the R3</a:t>
            </a:r>
          </a:p>
          <a:p>
            <a:r>
              <a:t>difference to the stokvel account with a reference. STK dash zero three. Member three.</a:t>
            </a:r>
          </a:p>
          <a:p/>
          <a:p>
            <a:r>
              <a:t>[Watch the left page. The STK-03 line lands.]</a:t>
            </a:r>
          </a:p>
          <a:p/>
          <a:p>
            <a:r>
              <a:t>There's the R3 on the statement. Now watch the messenger.</a:t>
            </a:r>
          </a:p>
          <a:p/>
          <a:p>
            <a:r>
              <a:t>[The minute book: "bank → chain, Contribution recorded".]</a:t>
            </a:r>
          </a:p>
          <a:p/>
          <a:p>
            <a:r>
              <a:t>The relayer polled the account, saw a credit with a stokvel reference, and told the contract:</a:t>
            </a:r>
          </a:p>
          <a:p>
            <a:r>
              <a:t>member three paid three hundred cents, and here's the fingerprint of the bank transaction. The</a:t>
            </a:r>
          </a:p>
          <a:p>
            <a:r>
              <a:t>contract wrote it down. And look at the quilt.</a:t>
            </a:r>
          </a:p>
          <a:p/>
          <a:p>
            <a:r>
              <a:t>[The new patch appears.]</a:t>
            </a:r>
          </a:p>
          <a:p/>
          <a:p>
            <a:r>
              <a:t>Every contribution adds a patch in that member's colour. It's a small thing, but I want the</a:t>
            </a:r>
          </a:p>
          <a:p>
            <a:r>
              <a:t>group's history to look like something the group made.</a:t>
            </a:r>
          </a:p>
          <a:p/>
          <a:p>
            <a:r>
              <a:t>If you're on the audience page, that event has its transaction fingerprint next to it. That's</a:t>
            </a:r>
          </a:p>
          <a:p>
            <a:r>
              <a:t>the contract's record of what just happened, not mine.</a:t>
            </a:r>
          </a:p>
          <a:p/>
          <a:p>
            <a:r>
              <a:t>One honest note, because this is a room that will ask. The bank tonight is a mock of Investec's</a:t>
            </a:r>
          </a:p>
          <a:p>
            <a:r>
              <a:t>API, the same calls and the same shapes. The relayer can't tell the difference, and that's the</a:t>
            </a:r>
          </a:p>
          <a:p>
            <a:r>
              <a:t>test. The repo runs it against the real sandbox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[The code slide: closeRound, with the three checks highlighted and the rest dimmed.]</a:t>
            </a:r>
          </a:p>
          <a:p/>
          <a:p>
            <a:r>
              <a:t>This is the entire payout rule. One function. Twelve lines that matter.</a:t>
            </a:r>
          </a:p>
          <a:p/>
          <a:p>
            <a:r>
              <a:t>[Point at each line as you go.]</a:t>
            </a:r>
          </a:p>
          <a:p/>
          <a:p>
            <a:r>
              <a:t>First: are the reserves fresh? The bank balance, signed by a separate key, no older than an hour.</a:t>
            </a:r>
          </a:p>
          <a:p>
            <a:r>
              <a:t>If not, ReservesStale. Second: does the bank hold at least what the club is owed? If not,</a:t>
            </a:r>
          </a:p>
          <a:p>
            <a:r>
              <a:t>ReservesShort. Third: is the month actually over? If not, RoundStillOpen.</a:t>
            </a:r>
          </a:p>
          <a:p/>
          <a:p>
            <a:r>
              <a:t>And then the line I care about most.</a:t>
            </a:r>
          </a:p>
          <a:p/>
          <a:p>
            <a:r>
              <a:t>[Highlight recipient = round % members.length.]</a:t>
            </a:r>
          </a:p>
          <a:p/>
          <a:p>
            <a:r>
              <a:t>The recipient is the round number, modulo six. That's it. There is no function anywhere in</a:t>
            </a:r>
          </a:p>
          <a:p>
            <a:r>
              <a:t>this contract that takes a recipient as an argument. Nobody can pay themselves. Not the</a:t>
            </a:r>
          </a:p>
          <a:p>
            <a:r>
              <a:t>treasurer, not me, not the person who deployed it. The order is the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[Everyone else pays first. Do it quickly, it's not the show.]</a:t>
            </a:r>
          </a:p>
          <a:p/>
          <a:p>
            <a:r>
              <a:t>Let's get everybody paid up for the month.</a:t>
            </a:r>
          </a:p>
          <a:p/>
          <a:p>
            <a:r>
              <a:t>Run sheet: pay all</a:t>
            </a:r>
          </a:p>
          <a:p/>
          <a:p>
            <a:r>
              <a:t>[Roster fills with PAID stamps.]</a:t>
            </a:r>
          </a:p>
          <a:p/>
          <a:p>
            <a:r>
              <a:t>Six stamps. Thirty thousand and three rand in the pot, because Aisha's bakery run counts. And</a:t>
            </a:r>
          </a:p>
          <a:p>
            <a:r>
              <a:t>the reconciliation line says the bank holds exactly that, signed. Covered.</a:t>
            </a:r>
          </a:p>
          <a:p/>
          <a:p>
            <a:r>
              <a:t>Now, it's the twenty-third of December, and I can't make you sit here until then, so on this</a:t>
            </a:r>
          </a:p>
          <a:p>
            <a:r>
              <a:t>local chain I'm allowed to move the clock.</a:t>
            </a:r>
          </a:p>
          <a:p/>
          <a:p>
            <a:r>
              <a:t>Run sheet: monthend</a:t>
            </a:r>
          </a:p>
          <a:p/>
          <a:p>
            <a:r>
              <a:t>[Talk through the minute book as the lines arrive.]</a:t>
            </a:r>
          </a:p>
          <a:p/>
          <a:p>
            <a:r>
              <a:t>Clock moved. The round is over. The relayer asks the contract to close, the contract checks the</a:t>
            </a:r>
          </a:p>
          <a:p>
            <a:r>
              <a:t>three things, and it says: pay member three. Aisha. Payout due.</a:t>
            </a:r>
          </a:p>
          <a:p/>
          <a:p>
            <a:r>
              <a:t>The relayer calls the Investec payments API, paymultiple, with Aisha's saved beneficiary.</a:t>
            </a:r>
          </a:p>
          <a:p/>
          <a:p>
            <a:r>
              <a:t>[Left page: the debit lands, the balance drops to zero.]</a:t>
            </a:r>
          </a:p>
          <a:p/>
          <a:p>
            <a:r>
              <a:t>And there's the money leaving the account. Thirty thousand and three rand to Aisha. The bank</a:t>
            </a:r>
          </a:p>
          <a:p>
            <a:r>
              <a:t>gives back a payment reference, and the relayer tells the contract: paid, here's the reference.</a:t>
            </a:r>
          </a:p>
          <a:p>
            <a:r>
              <a:t>Payout settled. The pot is zero, and the roster has moved on. Johan is next.</a:t>
            </a:r>
          </a:p>
          <a:p/>
          <a:p>
            <a:r>
              <a:t>[Turn to Aisha.]</a:t>
            </a:r>
          </a:p>
          <a:p/>
          <a:p>
            <a:r>
              <a:t>Congratulations. It's testnet money, but the feeling is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[Pick up the treasurer hat. Put it on someone. If you can, put it on yourself.]</a:t>
            </a:r>
          </a:p>
          <a:p/>
          <a:p>
            <a:r>
              <a:t>Now, I need a treasurer. The treasurer is the person with the login to the Investec account.</a:t>
            </a:r>
          </a:p>
          <a:p>
            <a:r>
              <a:t>That's a normal bank account. Nothing on any chain can stop the signatory from moving money. So</a:t>
            </a:r>
          </a:p>
          <a:p>
            <a:r>
              <a:t>what happens when they do?</a:t>
            </a:r>
          </a:p>
          <a:p/>
          <a:p>
            <a:r>
              <a:t>[Get the next month paid quickly, then steal.]</a:t>
            </a:r>
          </a:p>
          <a:p/>
          <a:p>
            <a:r>
              <a:t>Run sheet: pay all, then steal 1000</a:t>
            </a:r>
          </a:p>
          <a:p/>
          <a:p>
            <a:r>
              <a:t>I've just moved a thousand rand from the stokvel account to my personal account, and I've</a:t>
            </a:r>
          </a:p>
          <a:p>
            <a:r>
              <a:t>labelled it "Admin fees". Very professional.</a:t>
            </a:r>
          </a:p>
          <a:p/>
          <a:p>
            <a:r>
              <a:t>[Left page: the debit line, "Admin fees".]</a:t>
            </a:r>
          </a:p>
          <a:p/>
          <a:p>
            <a:r>
              <a:t>Now. The attestor, that separate key, signs the balance every twenty seconds. Watch the</a:t>
            </a:r>
          </a:p>
          <a:p>
            <a:r>
              <a:t>reconciliation.</a:t>
            </a:r>
          </a:p>
          <a:p/>
          <a:p>
            <a:r>
              <a:t>[Right page: "Short R1,000.00" stamp goes red.]</a:t>
            </a:r>
          </a:p>
          <a:p/>
          <a:p>
            <a:r>
              <a:t>Bank holds twenty-nine thousand. Club is owed thirty. Short. And now let's try to close the</a:t>
            </a:r>
          </a:p>
          <a:p>
            <a:r>
              <a:t>month.</a:t>
            </a:r>
          </a:p>
          <a:p/>
          <a:p>
            <a:r>
              <a:t>Run sheet: close</a:t>
            </a:r>
          </a:p>
          <a:p/>
          <a:p>
            <a:r>
              <a:t>[The screen goes red. FROZEN.]</a:t>
            </a:r>
          </a:p>
          <a:p/>
          <a:p>
            <a:r>
              <a:t>Frozen. No payout. The contract will not release a cent while the bank holds less than the</a:t>
            </a:r>
          </a:p>
          <a:p>
            <a:r>
              <a:t>club is owed. Not because I'm honest. Because it checked.</a:t>
            </a:r>
          </a:p>
          <a:p/>
          <a:p>
            <a:r>
              <a:t>And every member is looking at this on their phone. There's no version of this where December's</a:t>
            </a:r>
          </a:p>
          <a:p>
            <a:r>
              <a:t>money goes missing quietly.</a:t>
            </a:r>
          </a:p>
          <a:p/>
          <a:p>
            <a:r>
              <a:t>[Take the hat off.]</a:t>
            </a:r>
          </a:p>
          <a:p/>
          <a:p>
            <a:r>
              <a:t>Run sheet: putback</a:t>
            </a:r>
          </a:p>
          <a:p/>
          <a:p>
            <a:r>
              <a:t>The money goes back, the next attestation shows it, the round closes. The club moves on. The</a:t>
            </a:r>
          </a:p>
          <a:p>
            <a:r>
              <a:t>treasurer, we'll deal with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[This one is about the relayer being wrong, not the treasurer being bad.]</a:t>
            </a:r>
          </a:p>
          <a:p/>
          <a:p>
            <a:r>
              <a:t>The relayer is software, and software repeats itself. Retries, timeouts, a bug. What happens if</a:t>
            </a:r>
          </a:p>
          <a:p>
            <a:r>
              <a:t>the bank tells the relayer about the same transaction twice?</a:t>
            </a:r>
          </a:p>
          <a:p/>
          <a:p>
            <a:r>
              <a:t>[The slide shows the one-line diff between V1 and V2.]</a:t>
            </a:r>
          </a:p>
          <a:p/>
          <a:p>
            <a:r>
              <a:t>This is version one of the contract, from a few weeks ago, and version two. The difference is</a:t>
            </a:r>
          </a:p>
          <a:p>
            <a:r>
              <a:t>one line. In version one, this line isn't there.</a:t>
            </a:r>
          </a:p>
          <a:p/>
          <a:p>
            <a:r>
              <a:t>[Point at if (seen[investecRef]) revert AlreadyRecorded(investecRef);]</a:t>
            </a:r>
          </a:p>
          <a:p/>
          <a:p>
            <a:r>
              <a:t>Let's see what one line is worth. Version one first.</a:t>
            </a:r>
          </a:p>
          <a:p/>
          <a:p>
            <a:r>
              <a:t>Run sheet: double v1</a:t>
            </a:r>
          </a:p>
          <a:p/>
          <a:p>
            <a:r>
              <a:t>Same bank transaction, sent twice. Version one records it twice. Priya has now paid ten thousand</a:t>
            </a:r>
          </a:p>
          <a:p>
            <a:r>
              <a:t>rand this month according to the chain, and five according to the bank. Two months from now,</a:t>
            </a:r>
          </a:p>
          <a:p>
            <a:r>
              <a:t>she'd be paid out of money that doesn't exist.</a:t>
            </a:r>
          </a:p>
          <a:p/>
          <a:p>
            <a:r>
              <a:t>Version two.</a:t>
            </a:r>
          </a:p>
          <a:p/>
          <a:p>
            <a:r>
              <a:t>Run sheet: double v2</a:t>
            </a:r>
          </a:p>
          <a:p/>
          <a:p>
            <a:r>
              <a:t>[The screen goes red. REFUSED.]</a:t>
            </a:r>
          </a:p>
          <a:p/>
          <a:p>
            <a:r>
              <a:t>First one lands. Second one: AlreadyRecorded. The contract has seen that transaction</a:t>
            </a:r>
          </a:p>
          <a:p>
            <a:r>
              <a:t>fingerprint before, and it will never accept it again. The relayer didn't have to be clever. It</a:t>
            </a:r>
          </a:p>
          <a:p>
            <a:r>
              <a:t>just had to be stopped.</a:t>
            </a:r>
          </a:p>
          <a:p/>
          <a:p>
            <a:r>
              <a:t>✂️ [Optional: read the error out loud.] That hash on the screen is the fingerprint of the</a:t>
            </a:r>
          </a:p>
          <a:p>
            <a:r>
              <a:t>Investec transaction. It's what makes the contract's memory of the bank exact, one line per rand</a:t>
            </a:r>
          </a:p>
          <a:p>
            <a:r>
              <a:t>that ever 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[This whole segment is a cut. If you keep it, keep it fast.]</a:t>
            </a:r>
          </a:p>
          <a:p/>
          <a:p>
            <a:r>
              <a:t>I found that bug in version one the boring way. I let a machine play ten thousand random months</a:t>
            </a:r>
          </a:p>
          <a:p>
            <a:r>
              <a:t>against the contract.</a:t>
            </a:r>
          </a:p>
          <a:p/>
          <a:p>
            <a:r>
              <a:t>Terminal: ./scripts/fuzz.sh</a:t>
            </a:r>
          </a:p>
          <a:p/>
          <a:p>
            <a:r>
              <a:t>This is Foundry's invariant fuzzer. It calls the contract in random orders with random numbers:</a:t>
            </a:r>
          </a:p>
          <a:p>
            <a:r>
              <a:t>contributions, duplicate webhooks, theft, refunds, time travel, closes, payouts. After every call</a:t>
            </a:r>
          </a:p>
          <a:p>
            <a:r>
              <a:t>it checks four things that must always be true. The sum of what members paid equals the total.</a:t>
            </a:r>
          </a:p>
          <a:p>
            <a:r>
              <a:t>Money in minus money out equals the pot. No transaction is ever counted twice. And the round</a:t>
            </a:r>
          </a:p>
          <a:p>
            <a:r>
              <a:t>never closes while the bank is short.</a:t>
            </a:r>
          </a:p>
          <a:p/>
          <a:p>
            <a:r>
              <a:t>[The suite fails. Point at the two-call reproduction.]</a:t>
            </a:r>
          </a:p>
          <a:p/>
          <a:p>
            <a:r>
              <a:t>Version one breaks in seconds, and it hands me the shortest sequence that breaks it. Two calls.</a:t>
            </a:r>
          </a:p>
          <a:p>
            <a:r>
              <a:t>Contribute, then the same webhook again. That's the reproduction I showed you a minute ago. The</a:t>
            </a:r>
          </a:p>
          <a:p>
            <a:r>
              <a:t>same suite against version two: ten thousand calls, all four invariants hold.</a:t>
            </a:r>
          </a:p>
          <a:p/>
          <a:p>
            <a:r>
              <a:t>If you take one engineering thing home tonight, take this. Write down what must always be true.</a:t>
            </a:r>
          </a:p>
          <a:p>
            <a:r>
              <a:t>Let a machine try to make it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[Back to the committee.]</a:t>
            </a:r>
          </a:p>
          <a:p/>
          <a:p>
            <a:r>
              <a:t>The stokvel wants to raise the contribution. Five thousand to six. In a WhatsApp group this is</a:t>
            </a:r>
          </a:p>
          <a:p>
            <a:r>
              <a:t>a forty-message argument. Here it's a signature.</a:t>
            </a:r>
          </a:p>
          <a:p/>
          <a:p>
            <a:r>
              <a:t>Run sheet: propose raise</a:t>
            </a:r>
          </a:p>
          <a:p/>
          <a:p>
            <a:r>
              <a:t>[Turn to the volunteers.]</a:t>
            </a:r>
          </a:p>
          <a:p/>
          <a:p>
            <a:r>
              <a:t>Any four of you: scan your card again, read the sentence, press Sign.</a:t>
            </a:r>
          </a:p>
          <a:p/>
          <a:p>
            <a:r>
              <a:t>[As the first phone shows the slip:]</a:t>
            </a:r>
          </a:p>
          <a:p/>
          <a:p>
            <a:r>
              <a:t>Read it out for me, Thabo. ["Thabo approves: raise the contribution from R5,000 to R6,000."]</a:t>
            </a:r>
          </a:p>
          <a:p>
            <a:r>
              <a:t>That's the message. Not a hash, not a transaction blob. A sentence a person can read before they</a:t>
            </a:r>
          </a:p>
          <a:p>
            <a:r>
              <a:t>agree to it. And nobody's paying for gas: the card signs, the relayer pays.</a:t>
            </a:r>
          </a:p>
          <a:p/>
          <a:p>
            <a:r>
              <a:t>[After the fourth vote: "majority reached, timelock started".]</a:t>
            </a:r>
          </a:p>
          <a:p/>
          <a:p>
            <a:r>
              <a:t>Four of six. Strict majority. And now: nothing happens. Deliberately. There's a timelock. On</a:t>
            </a:r>
          </a:p>
          <a:p>
            <a:r>
              <a:t>stage it's two minutes. In real life I'd set it to forty-eight hours, so a change that a majority</a:t>
            </a:r>
          </a:p>
          <a:p>
            <a:r>
              <a:t>signed at eleven at night can still be looked at in the morning.</a:t>
            </a:r>
          </a:p>
          <a:p/>
          <a:p>
            <a:r>
              <a:t>[Skip the timelock and execute.]</a:t>
            </a:r>
          </a:p>
          <a:p/>
          <a:p>
            <a:r>
              <a:t>Run sheet: execute</a:t>
            </a:r>
          </a:p>
          <a:p/>
          <a:p>
            <a:r>
              <a:t>Executed. The contribution is six thousand. And that same vote signed twice? Let's not even try</a:t>
            </a:r>
          </a:p>
          <a:p>
            <a:r>
              <a:t>it, there's a nonce in the signature, the second copy is dead on arrival. We tested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[Walk over to Sipho. Take the card. Make it a little theatrical.]</a:t>
            </a:r>
          </a:p>
          <a:p/>
          <a:p>
            <a:r>
              <a:t>Sipho. I'm so sorry. Your card's been stolen.</a:t>
            </a:r>
          </a:p>
          <a:p/>
          <a:p>
            <a:r>
              <a:t>[Hold it up. This is the card from the opening line.]</a:t>
            </a:r>
          </a:p>
          <a:p/>
          <a:p>
            <a:r>
              <a:t>This is the card I held up at the start. It's now in the hands of a thief, and the thief can</a:t>
            </a:r>
          </a:p>
          <a:p>
            <a:r>
              <a:t>sign as Sipho. In most crypto systems, that's the end of the story. Lose your key, lose</a:t>
            </a:r>
          </a:p>
          <a:p>
            <a:r>
              <a:t>everything.</a:t>
            </a:r>
          </a:p>
          <a:p/>
          <a:p>
            <a:r>
              <a:t>Here, the committee can move Sipho's membership to a new card. Not the thief, the members.</a:t>
            </a:r>
          </a:p>
          <a:p/>
          <a:p>
            <a:r>
              <a:t>Run sheet: propose rotate</a:t>
            </a:r>
          </a:p>
          <a:p/>
          <a:p>
            <a:r>
              <a:t>[Hand Sipho the spare card, 06b.]</a:t>
            </a:r>
          </a:p>
          <a:p/>
          <a:p>
            <a:r>
              <a:t>Four signatures again. Same as before.</a:t>
            </a:r>
          </a:p>
          <a:p/>
          <a:p>
            <a:r>
              <a:t>[Four volunteers scan and sign on their phones, then execute.]</a:t>
            </a:r>
          </a:p>
          <a:p/>
          <a:p>
            <a:r>
              <a:t>Run sheet: execute</a:t>
            </a:r>
          </a:p>
          <a:p/>
          <a:p>
            <a:r>
              <a:t>Now, the thief. That's me, with the old card.</a:t>
            </a:r>
          </a:p>
          <a:p/>
          <a:p>
            <a:r>
              <a:t>Your phone: scan the old card 06.</a:t>
            </a:r>
          </a:p>
          <a:p/>
          <a:p>
            <a:r>
              <a:t>[The slip says "Not a member". Show it.]</a:t>
            </a:r>
          </a:p>
          <a:p/>
          <a:p>
            <a:r>
              <a:t>Not a member. The card that was Sipho ten seconds ago is a piece of plastic. Every vote it</a:t>
            </a:r>
          </a:p>
          <a:p>
            <a:r>
              <a:t>ever cast still counts, because votes are counted per member, not per card. But it will never</a:t>
            </a:r>
          </a:p>
          <a:p>
            <a:r>
              <a:t>sign as Sipho again.</a:t>
            </a:r>
          </a:p>
          <a:p/>
          <a:p>
            <a:r>
              <a:t>[Sipho scans 06b with a phone.]</a:t>
            </a:r>
          </a:p>
          <a:p/>
          <a:p>
            <a:r>
              <a:t>And Sipho, with the new card, is Sipho.</a:t>
            </a:r>
          </a:p>
          <a:p/>
          <a:p>
            <a:r>
              <a:t>✂️ [Optional beat:] And a small detail for the people who build these things: the new card</a:t>
            </a:r>
          </a:p>
          <a:p>
            <a:r>
              <a:t>can't vote a second time on anything the old card already voted on. Same member, one vote. The</a:t>
            </a:r>
          </a:p>
          <a:p>
            <a:r>
              <a:t>contract remembers members, not keys.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[This is the second cut.]</a:t>
            </a:r>
          </a:p>
          <a:p/>
          <a:p>
            <a:r>
              <a:t>One more thing, because I promised the relayer can't be trusted and I should prove it doesn't</a:t>
            </a:r>
          </a:p>
          <a:p>
            <a:r>
              <a:t>matter.</a:t>
            </a:r>
          </a:p>
          <a:p/>
          <a:p>
            <a:r>
              <a:t>Run sheet: kill</a:t>
            </a:r>
          </a:p>
          <a:p/>
          <a:p>
            <a:r>
              <a:t>The backend just died. The dashboard still has the bank page, still has the chain page, still</a:t>
            </a:r>
          </a:p>
          <a:p>
            <a:r>
              <a:t>has every event, because it reads them from the chain, not from my server.</a:t>
            </a:r>
          </a:p>
          <a:p/>
          <a:p>
            <a:r>
              <a:t>[Wait for the restart line.]</a:t>
            </a:r>
          </a:p>
          <a:p/>
          <a:p>
            <a:r>
              <a:t>And it's back, three seconds later, and it replayed the bank and the chain and sent nothing</a:t>
            </a:r>
          </a:p>
          <a:p>
            <a:r>
              <a:t>twice, because it can't: the contract already has everything it would send.</a:t>
            </a:r>
          </a:p>
          <a:p/>
          <a:p>
            <a:r>
              <a:t>You could delete my laptop and this stokvel would still know who paid.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[Slower. This is the part that makes the rest believable.]</a:t>
            </a:r>
          </a:p>
          <a:p/>
          <a:p>
            <a:r>
              <a:t>What this doesn't do, said plainly.</a:t>
            </a:r>
          </a:p>
          <a:p/>
          <a:p>
            <a:r>
              <a:t>The relayer is trusted to report what the bank did. The contract can stop it lying twice, and</a:t>
            </a:r>
          </a:p>
          <a:p>
            <a:r>
              <a:t>it can stop it paying the wrong person, but it can't see the bank's ledger. The members can.</a:t>
            </a:r>
          </a:p>
          <a:p/>
          <a:p>
            <a:r>
              <a:t>Group accounts need KYC. Six people sharing an account with an API key is a demo, not a</a:t>
            </a:r>
          </a:p>
          <a:p>
            <a:r>
              <a:t>product. The real version is a proper club account.</a:t>
            </a:r>
          </a:p>
          <a:p/>
          <a:p>
            <a:r>
              <a:t>There's no tokenised rand here, on purpose. The day there is one that a bank stands behind,</a:t>
            </a:r>
          </a:p>
          <a:p>
            <a:r>
              <a:t>the bank half of this gets simpler.</a:t>
            </a:r>
          </a:p>
          <a:p/>
          <a:p>
            <a:r>
              <a:t>And these cards should be passkeys. Tonight you scanned a key into a website. That is exactly</a:t>
            </a:r>
          </a:p>
          <a:p>
            <a:r>
              <a:t>what a crypto scam looks like, and in real life you never do it. A phone that signs, not a QR</a:t>
            </a:r>
          </a:p>
          <a:p>
            <a:r>
              <a:t>you can photograph.</a:t>
            </a:r>
          </a:p>
          <a:p/>
          <a:p>
            <a:r>
              <a:t>[Credits.]</a:t>
            </a:r>
          </a:p>
          <a:p/>
          <a:p>
            <a:r>
              <a:t>None of this started with me. Peter Smythe's dual-auth card tutorial taught me how the card</a:t>
            </a:r>
          </a:p>
          <a:p>
            <a:r>
              <a:t>runtime behaves, including the two-second rule. His swipe-and-save tutorial is where the</a:t>
            </a:r>
          </a:p>
          <a:p>
            <a:r>
              <a:t>round-up pattern comes from. The links are on the slide and in the repo. This community is why</a:t>
            </a:r>
          </a:p>
          <a:p>
            <a:r>
              <a:t>this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[The repo QR is up. The quilt is on the screen.]</a:t>
            </a:r>
          </a:p>
          <a:p/>
          <a:p>
            <a:r>
              <a:t>So. Six strangers, a bank account, a contract, and a thief.</a:t>
            </a:r>
          </a:p>
          <a:p/>
          <a:p>
            <a:r>
              <a:t>We didn't replace the trust. We wrote it down where nobody can erase it.</a:t>
            </a:r>
          </a:p>
          <a:p/>
          <a:p>
            <a:r>
              <a:t>[Beat.]</a:t>
            </a:r>
          </a:p>
          <a:p/>
          <a:p>
            <a:r>
              <a:t>The repo is on the screen. Clone it, run one command, break it, and tell me what you broke.</a:t>
            </a:r>
          </a:p>
          <a:p>
            <a:r>
              <a:t>Thank you to my committee. [Name them.] Thank you.</a:t>
            </a:r>
          </a:p>
          <a:p/>
          <a:p>
            <a:r>
              <a:t>[Stay up for questions.]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96AD"/>
                </a:solidFill>
                <a:latin typeface="JetBrains Mono"/>
              </a:rPr>
              <a:t>Investec developer community  ·  Q4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8595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F4F1EA"/>
                </a:solidFill>
                <a:latin typeface="Space Grotesk"/>
              </a:rPr>
              <a:t>The Treasurer</a:t>
            </a:r>
          </a:p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F4F1EA"/>
                </a:solidFill>
                <a:latin typeface="Space Grotesk"/>
              </a:rPr>
              <a:t>Is a Smart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7680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4F1EA"/>
                </a:solidFill>
                <a:latin typeface="Inter"/>
              </a:rPr>
              <a:t>Rebuilding the stokvel with Solidity and Investec Programmable Banking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34840"/>
            <a:ext cx="7680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A96AD"/>
                </a:solidFill>
                <a:latin typeface="Inter"/>
              </a:rPr>
              <a:t>Investec holds the rand. The chain holds the rulebook. The relayer carries messages and can't decide.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978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F1EA"/>
                </a:solidFill>
                <a:latin typeface="JetBrains Mono"/>
              </a:rPr>
              <a:t>Nevin Tom</a:t>
            </a:r>
            <a:r>
              <a:rPr sz="1300" b="0" i="0">
                <a:solidFill>
                  <a:srgbClr val="8A96AD"/>
                </a:solidFill>
                <a:latin typeface="JetBrains Mono"/>
              </a:rPr>
              <a:t>   data engineer · MSc student · builds on Programmable Banking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0" y="822960"/>
            <a:ext cx="822960" cy="82296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92640" y="925830"/>
            <a:ext cx="205740" cy="10287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898380" y="822960"/>
            <a:ext cx="205740" cy="20574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04119" y="822960"/>
            <a:ext cx="205740" cy="20574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309860" y="822960"/>
            <a:ext cx="102870" cy="20574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692640" y="102870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898380" y="1028700"/>
            <a:ext cx="205740" cy="20574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04119" y="1028700"/>
            <a:ext cx="205740" cy="20574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0309860" y="102870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692640" y="123444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9898380" y="1234440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205739" y="205740"/>
                </a:moveTo>
                <a:lnTo>
                  <a:pt x="0" y="205740"/>
                </a:lnTo>
                <a:lnTo>
                  <a:pt x="205739" y="0"/>
                </a:lnTo>
                <a:close/>
              </a:path>
            </a:pathLst>
          </a:cu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0104119" y="123444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10309860" y="123444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692640" y="144018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98380" y="1440180"/>
            <a:ext cx="205740" cy="20574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104119" y="1440180"/>
            <a:ext cx="205740" cy="20574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10309860" y="144018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07040" y="822960"/>
            <a:ext cx="822960" cy="82296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812780" y="822960"/>
            <a:ext cx="205740" cy="2057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018519" y="822960"/>
            <a:ext cx="205740" cy="2057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607040" y="1028700"/>
            <a:ext cx="205740" cy="20574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10812780" y="1028700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205739" y="205740"/>
                </a:moveTo>
                <a:lnTo>
                  <a:pt x="0" y="205740"/>
                </a:lnTo>
                <a:lnTo>
                  <a:pt x="205739" y="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1018519" y="102870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224260" y="1028700"/>
            <a:ext cx="205740" cy="20574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607040" y="1337310"/>
            <a:ext cx="205740" cy="10287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812780" y="1234440"/>
            <a:ext cx="102870" cy="20574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018519" y="1337310"/>
            <a:ext cx="205740" cy="10287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224260" y="1234440"/>
            <a:ext cx="102870" cy="20574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10607040" y="144018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812780" y="1440180"/>
            <a:ext cx="205740" cy="10287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121390" y="1440180"/>
            <a:ext cx="102870" cy="20574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1224260" y="144018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92640" y="1691640"/>
            <a:ext cx="822960" cy="82296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92640" y="1691640"/>
            <a:ext cx="102870" cy="205740"/>
          </a:xfrm>
          <a:prstGeom prst="rect">
            <a:avLst/>
          </a:pr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98380" y="1691640"/>
            <a:ext cx="205740" cy="2057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0104119" y="169164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0309860" y="169164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9692640" y="189738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898380" y="2000250"/>
            <a:ext cx="205740" cy="10287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10104119" y="189738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344150" y="1931670"/>
            <a:ext cx="137160" cy="137160"/>
          </a:xfrm>
          <a:prstGeom prst="ellipse">
            <a:avLst/>
          </a:pr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9692640" y="210312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9898380" y="2103120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205739" y="205740"/>
                </a:moveTo>
                <a:lnTo>
                  <a:pt x="0" y="205740"/>
                </a:lnTo>
                <a:lnTo>
                  <a:pt x="205739" y="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104119" y="2205990"/>
            <a:ext cx="205740" cy="10287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0309860" y="210312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692640" y="230886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898380" y="2308860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0" y="0"/>
                </a:moveTo>
                <a:lnTo>
                  <a:pt x="205739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0104119" y="230886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309860" y="2308860"/>
            <a:ext cx="102870" cy="20574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607040" y="1691640"/>
            <a:ext cx="822960" cy="82296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812780" y="1691640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0" y="0"/>
                </a:moveTo>
                <a:lnTo>
                  <a:pt x="205739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1018519" y="169164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10607040" y="189738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812780" y="1897380"/>
            <a:ext cx="205740" cy="20574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018519" y="1897380"/>
            <a:ext cx="205740" cy="20574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1224260" y="189738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0607040" y="210312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0812780" y="2103120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0" y="0"/>
                </a:moveTo>
                <a:lnTo>
                  <a:pt x="205739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1018519" y="210312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11224260" y="210312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10607040" y="230886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812780" y="2308860"/>
            <a:ext cx="205740" cy="20574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018519" y="2308860"/>
            <a:ext cx="205740" cy="20574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11224260" y="230886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692640" y="2560320"/>
            <a:ext cx="822960" cy="82296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9692640" y="256032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9898380" y="2560320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205739" y="205740"/>
                </a:moveTo>
                <a:lnTo>
                  <a:pt x="0" y="205740"/>
                </a:lnTo>
                <a:lnTo>
                  <a:pt x="205739" y="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10104119" y="256032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10309860" y="256032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692640" y="2766060"/>
            <a:ext cx="205740" cy="20574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898380" y="2868929"/>
            <a:ext cx="205740" cy="10287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104119" y="2766060"/>
            <a:ext cx="102870" cy="20574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309860" y="2766060"/>
            <a:ext cx="205740" cy="20574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692640" y="2971800"/>
            <a:ext cx="205740" cy="20574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9898380" y="2971800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0" y="205740"/>
                </a:moveTo>
                <a:lnTo>
                  <a:pt x="0" y="0"/>
                </a:lnTo>
                <a:lnTo>
                  <a:pt x="205739" y="20574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10104119" y="297180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309860" y="2971800"/>
            <a:ext cx="205740" cy="20574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692640" y="3280409"/>
            <a:ext cx="205740" cy="10287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898380" y="3177539"/>
            <a:ext cx="205740" cy="10287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206990" y="3177539"/>
            <a:ext cx="102870" cy="2057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309860" y="3177539"/>
            <a:ext cx="102870" cy="20574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607040" y="2560320"/>
            <a:ext cx="822960" cy="82296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607040" y="2560320"/>
            <a:ext cx="205740" cy="10287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10812780" y="2560320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205739" y="0"/>
                </a:moveTo>
                <a:lnTo>
                  <a:pt x="205739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11018519" y="256032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224260" y="2560320"/>
            <a:ext cx="102870" cy="20574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709910" y="2766060"/>
            <a:ext cx="102870" cy="20574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812780" y="2766060"/>
            <a:ext cx="205740" cy="2057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121390" y="2766060"/>
            <a:ext cx="102870" cy="20574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1224260" y="2766060"/>
            <a:ext cx="205740" cy="2057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10607040" y="297180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847069" y="3006090"/>
            <a:ext cx="137160" cy="137160"/>
          </a:xfrm>
          <a:prstGeom prst="ellipse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11018519" y="297180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1224260" y="2971800"/>
            <a:ext cx="205740" cy="20574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10607040" y="317753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812780" y="3177539"/>
            <a:ext cx="205740" cy="10287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11018519" y="317753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1224260" y="3177539"/>
            <a:ext cx="205740" cy="20574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692640" y="3428999"/>
            <a:ext cx="822960" cy="82296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9692640" y="342899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898380" y="3428999"/>
            <a:ext cx="205740" cy="205740"/>
          </a:xfrm>
          <a:prstGeom prst="rect">
            <a:avLst/>
          </a:pr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104119" y="3428999"/>
            <a:ext cx="205740" cy="205740"/>
          </a:xfrm>
          <a:prstGeom prst="rect">
            <a:avLst/>
          </a:pr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10309860" y="342899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9692640" y="363473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898380" y="3634739"/>
            <a:ext cx="205740" cy="20574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104119" y="3634739"/>
            <a:ext cx="205740" cy="20574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10309860" y="363473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92640" y="3840479"/>
            <a:ext cx="205740" cy="205740"/>
          </a:xfrm>
          <a:prstGeom prst="rect">
            <a:avLst/>
          </a:pr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98380" y="3840479"/>
            <a:ext cx="205740" cy="20574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104119" y="3840479"/>
            <a:ext cx="205740" cy="20574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309860" y="3840479"/>
            <a:ext cx="205740" cy="205740"/>
          </a:xfrm>
          <a:prstGeom prst="rect">
            <a:avLst/>
          </a:pr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795510" y="4046220"/>
            <a:ext cx="102870" cy="205740"/>
          </a:xfrm>
          <a:prstGeom prst="rect">
            <a:avLst/>
          </a:pr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98380" y="4046220"/>
            <a:ext cx="205740" cy="205740"/>
          </a:xfrm>
          <a:prstGeom prst="rect">
            <a:avLst/>
          </a:pr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104119" y="4046220"/>
            <a:ext cx="205740" cy="205740"/>
          </a:xfrm>
          <a:prstGeom prst="rect">
            <a:avLst/>
          </a:pr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309860" y="4046220"/>
            <a:ext cx="205740" cy="102870"/>
          </a:xfrm>
          <a:prstGeom prst="rect">
            <a:avLst/>
          </a:pr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607040" y="3428999"/>
            <a:ext cx="822960" cy="82296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10607040" y="342899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10812780" y="3428999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205739" y="0"/>
                </a:moveTo>
                <a:lnTo>
                  <a:pt x="205739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11018519" y="342899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11224260" y="342899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10607040" y="363473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10812780" y="3634739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0" y="205740"/>
                </a:moveTo>
                <a:lnTo>
                  <a:pt x="0" y="0"/>
                </a:lnTo>
                <a:lnTo>
                  <a:pt x="205739" y="20574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11018519" y="363473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11224260" y="363473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10607040" y="384047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11224260" y="3840479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607040" y="4046220"/>
            <a:ext cx="205740" cy="20574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10812780" y="4046220"/>
            <a:ext cx="205739" cy="205739"/>
          </a:xfrm>
          <a:custGeom>
            <a:avLst/>
            <a:gdLst/>
            <a:ahLst/>
            <a:cxnLst/>
            <a:rect l="l" t="t" r="r" b="b"/>
            <a:pathLst>
              <a:path w="205739" h="205739">
                <a:moveTo>
                  <a:pt x="0" y="0"/>
                </a:moveTo>
                <a:lnTo>
                  <a:pt x="205739" y="0"/>
                </a:lnTo>
                <a:lnTo>
                  <a:pt x="0" y="205739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11018519" y="4046220"/>
            <a:ext cx="205740" cy="205739"/>
          </a:xfrm>
          <a:custGeom>
            <a:avLst/>
            <a:gdLst/>
            <a:ahLst/>
            <a:cxnLst/>
            <a:rect l="l" t="t" r="r" b="b"/>
            <a:pathLst>
              <a:path w="205740" h="205739">
                <a:moveTo>
                  <a:pt x="205740" y="0"/>
                </a:moveTo>
                <a:lnTo>
                  <a:pt x="205740" y="205739"/>
                </a:lnTo>
                <a:lnTo>
                  <a:pt x="0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1224260" y="4046220"/>
            <a:ext cx="205740" cy="20574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692640" y="4297680"/>
            <a:ext cx="822960" cy="82296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898380" y="4297680"/>
            <a:ext cx="205740" cy="10287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0206990" y="4297680"/>
            <a:ext cx="102870" cy="20574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692640" y="4606290"/>
            <a:ext cx="205740" cy="10287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898380" y="4503420"/>
            <a:ext cx="205740" cy="20574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104119" y="4503420"/>
            <a:ext cx="205740" cy="20574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0309860" y="4503420"/>
            <a:ext cx="102870" cy="20574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9692640" y="470916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9898380" y="4709160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0" y="0"/>
                </a:moveTo>
                <a:lnTo>
                  <a:pt x="205739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10104119" y="470916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10309860" y="470916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9692640" y="491490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9898380" y="4914900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0" y="205740"/>
                </a:moveTo>
                <a:lnTo>
                  <a:pt x="0" y="0"/>
                </a:lnTo>
                <a:lnTo>
                  <a:pt x="205739" y="205740"/>
                </a:lnTo>
                <a:close/>
              </a:path>
            </a:pathLst>
          </a:cu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10104119" y="491490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10309860" y="491490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0607040" y="4297680"/>
            <a:ext cx="822960" cy="82296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0607040" y="4297680"/>
            <a:ext cx="205740" cy="102870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847069" y="4331970"/>
            <a:ext cx="137160" cy="13716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1052809" y="4331970"/>
            <a:ext cx="137160" cy="13716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1327130" y="4297680"/>
            <a:ext cx="102870" cy="205740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0607040" y="4503420"/>
            <a:ext cx="205740" cy="20574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0915650" y="4503420"/>
            <a:ext cx="102870" cy="20574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1018519" y="4503420"/>
            <a:ext cx="205740" cy="10287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1224260" y="4503420"/>
            <a:ext cx="205740" cy="20574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641330" y="4743450"/>
            <a:ext cx="137160" cy="13716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0847069" y="4743450"/>
            <a:ext cx="137160" cy="13716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1052809" y="4743450"/>
            <a:ext cx="137160" cy="13716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1258550" y="4743450"/>
            <a:ext cx="137160" cy="13716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0607040" y="4914900"/>
            <a:ext cx="205740" cy="10287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11327130" y="4914900"/>
            <a:ext cx="102870" cy="20574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692640" y="5166360"/>
            <a:ext cx="822960" cy="82296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9692640" y="516636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9932669" y="5200650"/>
            <a:ext cx="137160" cy="13716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0138409" y="5200650"/>
            <a:ext cx="137160" cy="13716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Freeform 170"/>
          <p:cNvSpPr/>
          <p:nvPr/>
        </p:nvSpPr>
        <p:spPr>
          <a:xfrm>
            <a:off x="10309860" y="516636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692640" y="5372100"/>
            <a:ext cx="205740" cy="20574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898380" y="5372100"/>
            <a:ext cx="205740" cy="10287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10206990" y="5372100"/>
            <a:ext cx="102870" cy="20574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0309860" y="5372100"/>
            <a:ext cx="205740" cy="20574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9692640" y="557784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898380" y="5577840"/>
            <a:ext cx="205740" cy="20574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0104119" y="5577840"/>
            <a:ext cx="205740" cy="20574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10309860" y="557784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Freeform 179"/>
          <p:cNvSpPr/>
          <p:nvPr/>
        </p:nvSpPr>
        <p:spPr>
          <a:xfrm>
            <a:off x="9692640" y="578358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Freeform 180"/>
          <p:cNvSpPr/>
          <p:nvPr/>
        </p:nvSpPr>
        <p:spPr>
          <a:xfrm>
            <a:off x="10309860" y="578358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10607040" y="5166360"/>
            <a:ext cx="822960" cy="82296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10607040" y="5269230"/>
            <a:ext cx="205740" cy="10287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0847069" y="5200650"/>
            <a:ext cx="137160" cy="13716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11018519" y="5166360"/>
            <a:ext cx="205740" cy="20574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0641330" y="5406390"/>
            <a:ext cx="137160" cy="13716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0847069" y="5406390"/>
            <a:ext cx="137160" cy="137160"/>
          </a:xfrm>
          <a:prstGeom prst="ellipse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11018519" y="537210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205740"/>
                </a:moveTo>
                <a:lnTo>
                  <a:pt x="0" y="0"/>
                </a:lnTo>
                <a:lnTo>
                  <a:pt x="205740" y="20574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11327130" y="5372100"/>
            <a:ext cx="102870" cy="20574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0607040" y="5577840"/>
            <a:ext cx="205740" cy="10287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10812780" y="5577840"/>
            <a:ext cx="205740" cy="10287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11018519" y="5577840"/>
            <a:ext cx="205740" cy="20574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11224260" y="557784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0" y="0"/>
                </a:moveTo>
                <a:lnTo>
                  <a:pt x="20574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10607040" y="578358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0" y="205740"/>
                </a:lnTo>
                <a:lnTo>
                  <a:pt x="205740" y="0"/>
                </a:lnTo>
                <a:close/>
              </a:path>
            </a:pathLst>
          </a:cu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10812780" y="5783580"/>
            <a:ext cx="205739" cy="205740"/>
          </a:xfrm>
          <a:custGeom>
            <a:avLst/>
            <a:gdLst/>
            <a:ahLst/>
            <a:cxnLst/>
            <a:rect l="l" t="t" r="r" b="b"/>
            <a:pathLst>
              <a:path w="205739" h="205740">
                <a:moveTo>
                  <a:pt x="205739" y="0"/>
                </a:moveTo>
                <a:lnTo>
                  <a:pt x="205739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11018519" y="578358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11224260" y="578358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0"/>
                </a:moveTo>
                <a:lnTo>
                  <a:pt x="205740" y="20574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F4F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4F1EA"/>
                </a:solidFill>
                <a:latin typeface="Space Grotesk"/>
              </a:rPr>
              <a:t>A group chat, December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6AD"/>
                </a:solidFill>
                <a:latin typeface="JetBrains Mono"/>
              </a:rPr>
              <a:t>fictional · every name in this talk is made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6400800" cy="822960"/>
          </a:xfrm>
          <a:prstGeom prst="round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18488"/>
            <a:ext cx="5120640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B1426"/>
                </a:solidFill>
                <a:latin typeface="Inter"/>
              </a:rPr>
              <a:t>Guys, where's December's money?</a:t>
            </a:r>
          </a:p>
        </p:txBody>
      </p:sp>
      <p:sp>
        <p:nvSpPr>
          <p:cNvPr id="7" name="Oval 6"/>
          <p:cNvSpPr/>
          <p:nvPr/>
        </p:nvSpPr>
        <p:spPr>
          <a:xfrm>
            <a:off x="6446520" y="1645920"/>
            <a:ext cx="457200" cy="457200"/>
          </a:xfrm>
          <a:prstGeom prst="ellipse">
            <a:avLst/>
          </a:prstGeom>
          <a:noFill/>
          <a:ln w="25400">
            <a:solidFill>
              <a:srgbClr val="0B1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65392" y="1792224"/>
            <a:ext cx="64008" cy="64008"/>
          </a:xfrm>
          <a:prstGeom prst="ellipse">
            <a:avLst/>
          </a:prstGeom>
          <a:solidFill>
            <a:srgbClr val="0B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720840" y="1792224"/>
            <a:ext cx="64008" cy="64008"/>
          </a:xfrm>
          <a:prstGeom prst="ellipse">
            <a:avLst/>
          </a:prstGeom>
          <a:solidFill>
            <a:srgbClr val="0B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565392" y="1965960"/>
            <a:ext cx="219456" cy="0"/>
          </a:xfrm>
          <a:prstGeom prst="line">
            <a:avLst/>
          </a:prstGeom>
          <a:ln w="25400">
            <a:solidFill>
              <a:srgbClr val="0B14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23317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A96AD"/>
                </a:solidFill>
                <a:latin typeface="JetBrains Mono"/>
              </a:rPr>
              <a:t>Priya · 09:41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88920"/>
            <a:ext cx="2011680" cy="822960"/>
          </a:xfrm>
          <a:prstGeom prst="round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944368"/>
            <a:ext cx="1463040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B1426"/>
                </a:solidFill>
                <a:latin typeface="Inter"/>
              </a:rPr>
              <a:t>Guys?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A96AD"/>
                </a:solidFill>
                <a:latin typeface="JetBrains Mono"/>
              </a:rPr>
              <a:t>Priya · 09:58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14800"/>
            <a:ext cx="2011680" cy="822960"/>
          </a:xfrm>
          <a:prstGeom prst="round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70248"/>
            <a:ext cx="1463040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B1426"/>
                </a:solidFill>
                <a:latin typeface="Inter"/>
              </a:rPr>
              <a:t>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A96AD"/>
                </a:solidFill>
                <a:latin typeface="JetBrains Mono"/>
              </a:rPr>
              <a:t>Thabo is typing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011680"/>
            <a:ext cx="36576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0" i="0">
                <a:solidFill>
                  <a:srgbClr val="F4F1EA"/>
                </a:solidFill>
                <a:latin typeface="Space Grotesk"/>
              </a:rPr>
              <a:t>Every stokvel has this thread.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6576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8A96AD"/>
                </a:solidFill>
                <a:latin typeface="Inter"/>
              </a:rPr>
              <a:t>One spreadsheet, one banking app, one person.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F4F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4F1EA"/>
                </a:solidFill>
                <a:latin typeface="Space Grotesk"/>
              </a:rPr>
              <a:t>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6AD"/>
                </a:solidFill>
                <a:latin typeface="JetBrains Mono"/>
              </a:rPr>
              <a:t>NASASA, August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 i="0">
                <a:solidFill>
                  <a:srgbClr val="F4F1EA"/>
                </a:solidFill>
                <a:latin typeface="Space Grotesk"/>
              </a:rPr>
              <a:t>11 million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8A96AD"/>
                </a:solidFill>
                <a:latin typeface="Inter"/>
              </a:rPr>
              <a:t>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F4F1EA"/>
                </a:solidFill>
                <a:latin typeface="Space Grotesk"/>
              </a:rPr>
              <a:t>810,000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324612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8A96AD"/>
                </a:solidFill>
                <a:latin typeface="Inter"/>
              </a:rPr>
              <a:t>stokvels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828800"/>
            <a:ext cx="3474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F4F1EA"/>
                </a:solidFill>
                <a:latin typeface="Space Grotesk"/>
              </a:rPr>
              <a:t>R50bn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24612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8A96AD"/>
                </a:solidFill>
                <a:latin typeface="Inter"/>
              </a:rPr>
              <a:t>saved a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634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F4F1EA"/>
                </a:solidFill>
                <a:latin typeface="Space Grotesk"/>
              </a:rPr>
              <a:t>Fifty billion rand a year, moving on trust.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6172200"/>
            <a:ext cx="10545775" cy="0"/>
          </a:xfrm>
          <a:prstGeom prst="line">
            <a:avLst/>
          </a:prstGeom>
          <a:ln w="12700">
            <a:solidFill>
              <a:srgbClr val="2A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62636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6AD"/>
                </a:solidFill>
                <a:latin typeface="JetBrains Mono"/>
              </a:rPr>
              <a:t>Source: NASASA via EWN, 14 Aug 2025 · ewn.co.za/2025/08/14/more-than-11-million-south-africans-are-members-of-stokvels-nasasa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F4F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4F1EA"/>
                </a:solidFill>
                <a:latin typeface="Space Grotesk"/>
              </a:rPr>
              <a:t>Single point of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6AD"/>
                </a:solidFill>
                <a:latin typeface="JetBrains Mono"/>
              </a:rPr>
              <a:t>how it works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3840480" cy="1005840"/>
          </a:xfrm>
          <a:prstGeom prst="rect">
            <a:avLst/>
          </a:prstGeom>
          <a:solidFill>
            <a:srgbClr val="13203A"/>
          </a:solidFill>
          <a:ln w="12700">
            <a:solidFill>
              <a:srgbClr val="2A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27632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4F1EA"/>
                </a:solidFill>
                <a:latin typeface="Space Grotesk"/>
              </a:rPr>
              <a:t>The ledger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2996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A96AD"/>
                </a:solidFill>
                <a:latin typeface="JetBrains Mono"/>
              </a:rPr>
              <a:t>a notebook, a spreadsheet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63440" y="1965960"/>
            <a:ext cx="2651760" cy="1463040"/>
          </a:xfrm>
          <a:prstGeom prst="line">
            <a:avLst/>
          </a:prstGeom>
          <a:ln w="19050">
            <a:solidFill>
              <a:srgbClr val="8A96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22960" y="2788920"/>
            <a:ext cx="3840480" cy="1005840"/>
          </a:xfrm>
          <a:prstGeom prst="rect">
            <a:avLst/>
          </a:prstGeom>
          <a:solidFill>
            <a:srgbClr val="13203A"/>
          </a:solidFill>
          <a:ln w="12700">
            <a:solidFill>
              <a:srgbClr val="2A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53512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4F1EA"/>
                </a:solidFill>
                <a:latin typeface="Space Grotesk"/>
              </a:rPr>
              <a:t>The 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5584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A96AD"/>
                </a:solidFill>
                <a:latin typeface="JetBrains Mono"/>
              </a:rPr>
              <a:t>the treasurer's own account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63440" y="3291839"/>
            <a:ext cx="2651760" cy="137161"/>
          </a:xfrm>
          <a:prstGeom prst="line">
            <a:avLst/>
          </a:prstGeom>
          <a:ln w="19050">
            <a:solidFill>
              <a:srgbClr val="8A96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22960" y="4114800"/>
            <a:ext cx="3840480" cy="1005840"/>
          </a:xfrm>
          <a:prstGeom prst="rect">
            <a:avLst/>
          </a:prstGeom>
          <a:solidFill>
            <a:srgbClr val="13203A"/>
          </a:solidFill>
          <a:ln w="12700">
            <a:solidFill>
              <a:srgbClr val="2A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79392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F4F1EA"/>
                </a:solidFill>
                <a:latin typeface="Space Grotesk"/>
              </a:rPr>
              <a:t>The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8172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A96AD"/>
                </a:solidFill>
                <a:latin typeface="JetBrains Mono"/>
              </a:rPr>
              <a:t>the WhatsApp group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4663440" y="3429000"/>
            <a:ext cx="2651760" cy="1188720"/>
          </a:xfrm>
          <a:prstGeom prst="line">
            <a:avLst/>
          </a:prstGeom>
          <a:ln w="19050">
            <a:solidFill>
              <a:srgbClr val="8A96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315200" y="2514600"/>
            <a:ext cx="1828800" cy="1828800"/>
          </a:xfrm>
          <a:prstGeom prst="ellipse">
            <a:avLst/>
          </a:prstGeom>
          <a:noFill/>
          <a:ln w="2540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2514600"/>
            <a:ext cx="18288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8A96AD"/>
                </a:solidFill>
                <a:latin typeface="Space Grotesk"/>
              </a:rPr>
              <a:t>the</a:t>
            </a:r>
          </a:p>
          <a:p>
            <a:pPr algn="ctr">
              <a:lnSpc>
                <a:spcPct val="115000"/>
              </a:lnSpc>
            </a:pPr>
            <a:r>
              <a:rPr sz="2400" b="0" i="0">
                <a:solidFill>
                  <a:srgbClr val="F4F1EA"/>
                </a:solidFill>
                <a:latin typeface="Space Grotesk"/>
              </a:rPr>
              <a:t>treasurer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651760"/>
            <a:ext cx="20116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F4F1EA"/>
                </a:solidFill>
                <a:latin typeface="Space Grotesk"/>
              </a:rPr>
              <a:t>One person.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F4F1EA"/>
                </a:solidFill>
                <a:latin typeface="Space Grotesk"/>
              </a:rPr>
              <a:t>Three jobs.</a:t>
            </a:r>
          </a:p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FF5A5F"/>
                </a:solidFill>
                <a:latin typeface="Space Grotesk"/>
              </a:rPr>
              <a:t>No audit trail.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" y="6172200"/>
            <a:ext cx="10545775" cy="0"/>
          </a:xfrm>
          <a:prstGeom prst="line">
            <a:avLst/>
          </a:prstGeom>
          <a:ln w="12700">
            <a:solidFill>
              <a:srgbClr val="2A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62636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A96AD"/>
                </a:solidFill>
                <a:latin typeface="JetBrains Mono"/>
              </a:rPr>
              <a:t>Investec doesn't sell a stokvel account. With Programmable Banking, it doesn't need 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tte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ash-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F4F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4F1EA"/>
                </a:solidFill>
                <a:latin typeface="Space Grotesk"/>
              </a:rPr>
              <a:t>Demo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6AD"/>
                </a:solidFill>
                <a:latin typeface="JetBrains Mono"/>
              </a:rPr>
              <a:t>live · simulated bank, private test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4A5A7A"/>
                </a:solidFill>
                <a:latin typeface="Space Grotesk"/>
              </a:rPr>
              <a:t>DEMO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0" i="0">
                <a:solidFill>
                  <a:srgbClr val="F4F1EA"/>
                </a:solidFill>
                <a:latin typeface="Space Grotesk"/>
              </a:rPr>
              <a:t>The committee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8A96AD"/>
                </a:solidFill>
                <a:latin typeface="Inter"/>
              </a:rPr>
              <a:t>Six volunteers, six cards, six phones, one constitution. Nobody types a name in: the chain knows each member from a signature.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869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442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4869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07442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937885"/>
            <a:ext cx="125730" cy="62865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8690" y="5875020"/>
            <a:ext cx="62865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4420" y="5937885"/>
            <a:ext cx="125730" cy="62865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" y="5875020"/>
            <a:ext cx="62865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8229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8690" y="6000750"/>
            <a:ext cx="125730" cy="62865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37285" y="6000750"/>
            <a:ext cx="62865" cy="12573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20015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51561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64134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38988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1561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4134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76707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38988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51561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64134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76707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38988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1561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4134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76707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56816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956816" y="562356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08254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20827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34006" y="5623560"/>
            <a:ext cx="62865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1968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8254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7114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33400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95681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103501" y="5895975"/>
            <a:ext cx="83820" cy="83820"/>
          </a:xfrm>
          <a:prstGeom prst="ellipse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20827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34006" y="587502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95681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082546" y="600075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20827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334006" y="600075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523744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252374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64947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2775203" y="562356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90093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52374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64947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775203" y="574929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125730"/>
                </a:moveTo>
                <a:lnTo>
                  <a:pt x="0" y="125730"/>
                </a:lnTo>
                <a:lnTo>
                  <a:pt x="125731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290093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252374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90093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52374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649474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2775203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90093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090672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090672" y="5623560"/>
            <a:ext cx="125730" cy="62865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23735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6308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530727" y="5623560"/>
            <a:ext cx="62865" cy="125730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09067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279267" y="5749290"/>
            <a:ext cx="62865" cy="12573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342132" y="5749290"/>
            <a:ext cx="125730" cy="62865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46786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11162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23735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36308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48881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090672" y="6000750"/>
            <a:ext cx="125730" cy="62865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530727" y="6000750"/>
            <a:ext cx="62865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657600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657600" y="5686425"/>
            <a:ext cx="125730" cy="62865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04285" y="564451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909060" y="5623560"/>
            <a:ext cx="125730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678554" y="577024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04285" y="5770245"/>
            <a:ext cx="83820" cy="83820"/>
          </a:xfrm>
          <a:prstGeom prst="ellipse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390906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097654" y="5749290"/>
            <a:ext cx="62865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65760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78333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909060" y="5875020"/>
            <a:ext cx="125730" cy="12573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4034789" y="587502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365760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378333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39090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4034789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F4F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4F1EA"/>
                </a:solidFill>
                <a:latin typeface="Space Grotesk"/>
              </a:rPr>
              <a:t>Demo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6AD"/>
                </a:solidFill>
                <a:latin typeface="JetBrains Mono"/>
              </a:rPr>
              <a:t>live · simulated bank, private test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4A5A7A"/>
                </a:solidFill>
                <a:latin typeface="Space Grotesk"/>
              </a:rPr>
              <a:t>DEMO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0" i="0">
                <a:solidFill>
                  <a:srgbClr val="F4F1EA"/>
                </a:solidFill>
                <a:latin typeface="Space Grotesk"/>
              </a:rPr>
              <a:t>Swipe and round-up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8A96AD"/>
                </a:solidFill>
                <a:latin typeface="Inter"/>
              </a:rPr>
              <a:t>Aisha buys R87 of bread. The card rounds up to R90 and R3 lands on chain with her number on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869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442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4869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07442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937885"/>
            <a:ext cx="125730" cy="62865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8690" y="5875020"/>
            <a:ext cx="62865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4420" y="5937885"/>
            <a:ext cx="125730" cy="62865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" y="5875020"/>
            <a:ext cx="62865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8229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8690" y="6000750"/>
            <a:ext cx="125730" cy="62865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37285" y="6000750"/>
            <a:ext cx="62865" cy="12573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20015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51561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64134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38988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1561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4134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76707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38988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51561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64134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76707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38988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1561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4134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76707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56816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956816" y="562356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08254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20827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34006" y="5623560"/>
            <a:ext cx="62865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1968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8254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7114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33400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95681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103501" y="5895975"/>
            <a:ext cx="83820" cy="83820"/>
          </a:xfrm>
          <a:prstGeom prst="ellipse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20827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34006" y="587502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95681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082546" y="600075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20827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334006" y="600075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523744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252374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64947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2775203" y="562356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90093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52374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64947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775203" y="574929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125730"/>
                </a:moveTo>
                <a:lnTo>
                  <a:pt x="0" y="125730"/>
                </a:lnTo>
                <a:lnTo>
                  <a:pt x="125731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290093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252374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90093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52374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649474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2775203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90093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090672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090672" y="5623560"/>
            <a:ext cx="125730" cy="62865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23735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6308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530727" y="5623560"/>
            <a:ext cx="62865" cy="125730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09067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279267" y="5749290"/>
            <a:ext cx="62865" cy="12573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342132" y="5749290"/>
            <a:ext cx="125730" cy="62865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46786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11162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23735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36308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48881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090672" y="6000750"/>
            <a:ext cx="125730" cy="62865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530727" y="6000750"/>
            <a:ext cx="62865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657600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657600" y="5686425"/>
            <a:ext cx="125730" cy="62865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04285" y="564451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909060" y="5623560"/>
            <a:ext cx="125730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678554" y="577024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04285" y="5770245"/>
            <a:ext cx="83820" cy="83820"/>
          </a:xfrm>
          <a:prstGeom prst="ellipse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390906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097654" y="5749290"/>
            <a:ext cx="62865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65760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78333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909060" y="5875020"/>
            <a:ext cx="125730" cy="12573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4034789" y="587502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365760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378333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39090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4034789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F4F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4F1EA"/>
                </a:solidFill>
                <a:latin typeface="Space Grotesk"/>
              </a:rPr>
              <a:t>The whole payout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6AD"/>
                </a:solidFill>
                <a:latin typeface="JetBrains Mono"/>
              </a:rPr>
              <a:t>contracts/src/Stokvel.sol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1002975" cy="4467392"/>
          </a:xfrm>
          <a:prstGeom prst="rect">
            <a:avLst/>
          </a:prstGeom>
          <a:solidFill>
            <a:srgbClr val="13203A"/>
          </a:solidFill>
          <a:ln w="12700">
            <a:solidFill>
              <a:srgbClr val="2A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90176"/>
            <a:ext cx="54864" cy="22786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18045"/>
            <a:ext cx="54864" cy="22786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145913"/>
            <a:ext cx="54864" cy="22786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373782"/>
            <a:ext cx="54864" cy="22786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601650"/>
            <a:ext cx="54864" cy="22786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3057387"/>
            <a:ext cx="54864" cy="22786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234440"/>
            <a:ext cx="10545775" cy="428451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A7A"/>
                </a:solidFill>
                <a:latin typeface="JetBrains Mono"/>
              </a:rPr>
              <a:t>function closeRound() external {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A7A"/>
                </a:solidFill>
                <a:latin typeface="JetBrains Mono"/>
              </a:rPr>
              <a:t>    uint256 owed = pot + unsettled;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4F1EA"/>
                </a:solidFill>
                <a:latin typeface="JetBrains Mono"/>
              </a:rPr>
              <a:t>    </a:t>
            </a:r>
            <a:r>
              <a:rPr sz="1400" b="0" i="0">
                <a:solidFill>
                  <a:srgbClr val="2EC4B6"/>
                </a:solidFill>
                <a:latin typeface="JetBrains Mono"/>
              </a:rPr>
              <a:t>if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(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reservesAt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==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B388EB"/>
                </a:solidFill>
                <a:latin typeface="JetBrains Mono"/>
              </a:rPr>
              <a:t>0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||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reservesAt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+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RESERVES_MAX_AGE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&lt;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block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.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timestamp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)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4F1EA"/>
                </a:solidFill>
                <a:latin typeface="JetBrains Mono"/>
              </a:rPr>
              <a:t>        </a:t>
            </a:r>
            <a:r>
              <a:rPr sz="1400" b="0" i="0">
                <a:solidFill>
                  <a:srgbClr val="2EC4B6"/>
                </a:solidFill>
                <a:latin typeface="JetBrains Mono"/>
              </a:rPr>
              <a:t>revert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A261"/>
                </a:solidFill>
                <a:latin typeface="JetBrains Mono"/>
              </a:rPr>
              <a:t>ReservesStale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(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reservesAt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,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notBefore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4F1EA"/>
                </a:solidFill>
                <a:latin typeface="JetBrains Mono"/>
              </a:rPr>
              <a:t>    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}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4F1EA"/>
                </a:solidFill>
                <a:latin typeface="JetBrains Mono"/>
              </a:rPr>
              <a:t>    </a:t>
            </a:r>
            <a:r>
              <a:rPr sz="1400" b="0" i="0">
                <a:solidFill>
                  <a:srgbClr val="2EC4B6"/>
                </a:solidFill>
                <a:latin typeface="JetBrains Mono"/>
              </a:rPr>
              <a:t>if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(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reservesCents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&lt;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owed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)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2EC4B6"/>
                </a:solidFill>
                <a:latin typeface="JetBrains Mono"/>
              </a:rPr>
              <a:t>revert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A261"/>
                </a:solidFill>
                <a:latin typeface="JetBrains Mono"/>
              </a:rPr>
              <a:t>ReservesShort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(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reservesCents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,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owed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4F1EA"/>
                </a:solidFill>
                <a:latin typeface="JetBrains Mono"/>
              </a:rPr>
              <a:t>    </a:t>
            </a:r>
            <a:r>
              <a:rPr sz="1400" b="0" i="0">
                <a:solidFill>
                  <a:srgbClr val="2EC4B6"/>
                </a:solidFill>
                <a:latin typeface="JetBrains Mono"/>
              </a:rPr>
              <a:t>if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(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block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.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timestamp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&lt;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roundEndsAt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)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2EC4B6"/>
                </a:solidFill>
                <a:latin typeface="JetBrains Mono"/>
              </a:rPr>
              <a:t>revert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A261"/>
                </a:solidFill>
                <a:latin typeface="JetBrains Mono"/>
              </a:rPr>
              <a:t>RoundStillOpen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(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roundEndsAt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A7A"/>
                </a:solidFill>
                <a:latin typeface="JetBrains Mono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4F1EA"/>
                </a:solidFill>
                <a:latin typeface="JetBrains Mono"/>
              </a:rPr>
              <a:t>    </a:t>
            </a:r>
            <a:r>
              <a:rPr sz="1400" b="0" i="0">
                <a:solidFill>
                  <a:srgbClr val="2EC4B6"/>
                </a:solidFill>
                <a:latin typeface="JetBrains Mono"/>
              </a:rPr>
              <a:t>uint8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recipient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=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2EC4B6"/>
                </a:solidFill>
                <a:latin typeface="JetBrains Mono"/>
              </a:rPr>
              <a:t>uint8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(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round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%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members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.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length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A7A"/>
                </a:solidFill>
                <a:latin typeface="JetBrains Mono"/>
              </a:rPr>
              <a:t>    uint256 cents = pot;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A7A"/>
                </a:solidFill>
                <a:latin typeface="JetBrains Mono"/>
              </a:rPr>
              <a:t>    payouts[round] = Payout(recipient, cents == 0, cents, members[recipient].beneficiaryHash);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A7A"/>
                </a:solidFill>
                <a:latin typeface="JetBrains Mono"/>
              </a:rPr>
              <a:t>    pot = 0;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A7A"/>
                </a:solidFill>
                <a:latin typeface="JetBrains Mono"/>
              </a:rPr>
              <a:t>    unsettled += cents;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A7A"/>
                </a:solidFill>
                <a:latin typeface="JetBrains Mono"/>
              </a:rPr>
              <a:t>    emit PayoutDue(round, recipient, cents, members[recipient].beneficiaryHash);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A7A"/>
                </a:solidFill>
                <a:latin typeface="JetBrains Mono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A7A"/>
                </a:solidFill>
                <a:latin typeface="JetBrains Mono"/>
              </a:rPr>
              <a:t>    round += 1;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A7A"/>
                </a:solidFill>
                <a:latin typeface="JetBrains Mono"/>
              </a:rPr>
              <a:t>    roundEndsAt = uint64(block.timestamp) + roundLength;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A7A"/>
                </a:solidFill>
                <a:latin typeface="JetBrains Mono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4F1EA"/>
                </a:solidFill>
                <a:latin typeface="Space Grotesk"/>
              </a:rPr>
              <a:t>No function takes a recipient. </a:t>
            </a:r>
            <a:r>
              <a:rPr sz="2200" b="0" i="0">
                <a:solidFill>
                  <a:srgbClr val="2EC4B6"/>
                </a:solidFill>
                <a:latin typeface="JetBrains Mono"/>
              </a:rPr>
              <a:t>round % 6</a:t>
            </a:r>
            <a:r>
              <a:rPr sz="2200" b="0" i="0">
                <a:solidFill>
                  <a:srgbClr val="F4F1EA"/>
                </a:solidFill>
                <a:latin typeface="Space Grotesk"/>
              </a:rPr>
              <a:t>, always.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F4F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4F1EA"/>
                </a:solidFill>
                <a:latin typeface="Space Grotesk"/>
              </a:rPr>
              <a:t>Demo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6AD"/>
                </a:solidFill>
                <a:latin typeface="JetBrains Mono"/>
              </a:rPr>
              <a:t>live · simulated bank, private test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4A5A7A"/>
                </a:solidFill>
                <a:latin typeface="Space Grotesk"/>
              </a:rPr>
              <a:t>DEMO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0" i="0">
                <a:solidFill>
                  <a:srgbClr val="F4F1EA"/>
                </a:solidFill>
                <a:latin typeface="Space Grotesk"/>
              </a:rPr>
              <a:t>Month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8A96AD"/>
                </a:solidFill>
                <a:latin typeface="Inter"/>
              </a:rPr>
              <a:t>The contract says who. Investec pays through the API. The chain records the bank's own payment reference.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869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442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4869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07442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937885"/>
            <a:ext cx="125730" cy="62865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8690" y="5875020"/>
            <a:ext cx="62865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4420" y="5937885"/>
            <a:ext cx="125730" cy="62865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" y="5875020"/>
            <a:ext cx="62865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8229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8690" y="6000750"/>
            <a:ext cx="125730" cy="62865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37285" y="6000750"/>
            <a:ext cx="62865" cy="12573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20015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51561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64134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38988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1561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4134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76707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38988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51561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64134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76707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38988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1561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4134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76707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56816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956816" y="562356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08254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20827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34006" y="5623560"/>
            <a:ext cx="62865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1968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8254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7114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33400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95681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103501" y="5895975"/>
            <a:ext cx="83820" cy="83820"/>
          </a:xfrm>
          <a:prstGeom prst="ellipse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20827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34006" y="587502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95681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082546" y="600075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20827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334006" y="600075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523744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252374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64947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2775203" y="562356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90093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52374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64947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775203" y="574929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125730"/>
                </a:moveTo>
                <a:lnTo>
                  <a:pt x="0" y="125730"/>
                </a:lnTo>
                <a:lnTo>
                  <a:pt x="125731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290093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252374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90093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52374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649474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2775203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90093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090672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090672" y="5623560"/>
            <a:ext cx="125730" cy="62865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23735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6308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530727" y="5623560"/>
            <a:ext cx="62865" cy="125730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09067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279267" y="5749290"/>
            <a:ext cx="62865" cy="12573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342132" y="5749290"/>
            <a:ext cx="125730" cy="62865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46786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11162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23735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36308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48881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090672" y="6000750"/>
            <a:ext cx="125730" cy="62865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530727" y="6000750"/>
            <a:ext cx="62865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657600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657600" y="5686425"/>
            <a:ext cx="125730" cy="62865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04285" y="564451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909060" y="5623560"/>
            <a:ext cx="125730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678554" y="577024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04285" y="5770245"/>
            <a:ext cx="83820" cy="83820"/>
          </a:xfrm>
          <a:prstGeom prst="ellipse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390906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097654" y="5749290"/>
            <a:ext cx="62865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65760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78333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909060" y="5875020"/>
            <a:ext cx="125730" cy="12573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4034789" y="587502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365760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378333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39090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4034789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F4F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4F1EA"/>
                </a:solidFill>
                <a:latin typeface="Space Grotesk"/>
              </a:rPr>
              <a:t>Demo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6AD"/>
                </a:solidFill>
                <a:latin typeface="JetBrains Mono"/>
              </a:rPr>
              <a:t>live · simulated bank, private test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4A5A7A"/>
                </a:solidFill>
                <a:latin typeface="Space Grotesk"/>
              </a:rPr>
              <a:t>DEMO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0" i="0">
                <a:solidFill>
                  <a:srgbClr val="F4F1EA"/>
                </a:solidFill>
                <a:latin typeface="Space Grotesk"/>
              </a:rPr>
              <a:t>The treasurer steals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8A96AD"/>
                </a:solidFill>
                <a:latin typeface="Inter"/>
              </a:rPr>
              <a:t>R1,000 leaves the account with the label “Admin fees”. Watch the payout freeze.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869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442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4869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07442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937885"/>
            <a:ext cx="125730" cy="62865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8690" y="5875020"/>
            <a:ext cx="62865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4420" y="5937885"/>
            <a:ext cx="125730" cy="62865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" y="5875020"/>
            <a:ext cx="62865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8229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8690" y="6000750"/>
            <a:ext cx="125730" cy="62865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37285" y="6000750"/>
            <a:ext cx="62865" cy="12573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20015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51561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64134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38988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1561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4134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76707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38988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51561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64134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76707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38988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1561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4134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76707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56816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956816" y="562356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08254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20827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34006" y="5623560"/>
            <a:ext cx="62865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1968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8254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7114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33400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95681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103501" y="5895975"/>
            <a:ext cx="83820" cy="83820"/>
          </a:xfrm>
          <a:prstGeom prst="ellipse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20827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34006" y="587502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95681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082546" y="600075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20827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334006" y="600075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523744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252374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64947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2775203" y="562356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90093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52374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64947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775203" y="574929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125730"/>
                </a:moveTo>
                <a:lnTo>
                  <a:pt x="0" y="125730"/>
                </a:lnTo>
                <a:lnTo>
                  <a:pt x="125731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290093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252374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90093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52374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649474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2775203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90093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090672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090672" y="5623560"/>
            <a:ext cx="125730" cy="62865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23735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6308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530727" y="5623560"/>
            <a:ext cx="62865" cy="125730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09067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279267" y="5749290"/>
            <a:ext cx="62865" cy="12573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342132" y="5749290"/>
            <a:ext cx="125730" cy="62865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46786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11162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23735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36308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48881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090672" y="6000750"/>
            <a:ext cx="125730" cy="62865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530727" y="6000750"/>
            <a:ext cx="62865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657600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657600" y="5686425"/>
            <a:ext cx="125730" cy="62865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04285" y="564451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909060" y="5623560"/>
            <a:ext cx="125730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678554" y="577024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04285" y="5770245"/>
            <a:ext cx="83820" cy="83820"/>
          </a:xfrm>
          <a:prstGeom prst="ellipse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390906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097654" y="5749290"/>
            <a:ext cx="62865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65760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78333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909060" y="5875020"/>
            <a:ext cx="125730" cy="12573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4034789" y="587502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365760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378333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39090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4034789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F4F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4F1EA"/>
                </a:solidFill>
                <a:latin typeface="Space Grotesk"/>
              </a:rPr>
              <a:t>Demo 5 · Double webhook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6AD"/>
                </a:solidFill>
                <a:latin typeface="JetBrains Mono"/>
              </a:rPr>
              <a:t>the one line between V1 and V2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05840"/>
            <a:ext cx="11002975" cy="3328050"/>
          </a:xfrm>
          <a:prstGeom prst="rect">
            <a:avLst/>
          </a:prstGeom>
          <a:solidFill>
            <a:srgbClr val="13203A"/>
          </a:solidFill>
          <a:ln w="12700">
            <a:solidFill>
              <a:srgbClr val="2A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72325"/>
            <a:ext cx="54864" cy="227868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10545775" cy="31451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A7A"/>
                </a:solidFill>
                <a:latin typeface="JetBrains Mono"/>
              </a:rPr>
              <a:t>function recordContribution(uint8 memberId, uint128 cents, bytes32 investecRef)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A7A"/>
                </a:solidFill>
                <a:latin typeface="JetBrains Mono"/>
              </a:rPr>
              <a:t>    external onlyRelayer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A7A"/>
                </a:solidFill>
                <a:latin typeface="JetBrains Mono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F4F1EA"/>
                </a:solidFill>
                <a:latin typeface="JetBrains Mono"/>
              </a:rPr>
              <a:t>    </a:t>
            </a:r>
            <a:r>
              <a:rPr sz="1400" b="0" i="0">
                <a:solidFill>
                  <a:srgbClr val="2EC4B6"/>
                </a:solidFill>
                <a:latin typeface="JetBrains Mono"/>
              </a:rPr>
              <a:t>if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(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seen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[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investecRef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])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2EC4B6"/>
                </a:solidFill>
                <a:latin typeface="JetBrains Mono"/>
              </a:rPr>
              <a:t>revert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 </a:t>
            </a:r>
            <a:r>
              <a:rPr sz="1400" b="0" i="0">
                <a:solidFill>
                  <a:srgbClr val="F4A261"/>
                </a:solidFill>
                <a:latin typeface="JetBrains Mono"/>
              </a:rPr>
              <a:t>AlreadyRecorded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(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investecRef</a:t>
            </a:r>
            <a:r>
              <a:rPr sz="1400" b="0" i="0">
                <a:solidFill>
                  <a:srgbClr val="F4F1EA"/>
                </a:solidFill>
                <a:latin typeface="JetBrains Mono"/>
              </a:rPr>
              <a:t>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A7A"/>
                </a:solidFill>
                <a:latin typeface="JetBrains Mono"/>
              </a:rPr>
              <a:t>    if (memberId &gt;= members.length) revert UnknownMember(memberId);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A7A"/>
                </a:solidFill>
                <a:latin typeface="JetBrains Mono"/>
              </a:rPr>
              <a:t>    if (cents &gt; MAX_CONTRIBUTION_CENTS) revert AmountTooLarge(cents, MAX_CONTRIBUTION_CENTS);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A7A"/>
                </a:solidFill>
                <a:latin typeface="JetBrains Mono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A7A"/>
                </a:solidFill>
                <a:latin typeface="JetBrains Mono"/>
              </a:rPr>
              <a:t>    seen[investecRef] = true;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A7A"/>
                </a:solidFill>
                <a:latin typeface="JetBrains Mono"/>
              </a:rPr>
              <a:t>    members[memberId].paidCents += cents;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A7A"/>
                </a:solidFill>
                <a:latin typeface="JetBrains Mono"/>
              </a:rPr>
              <a:t>    pot += cents;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A7A"/>
                </a:solidFill>
                <a:latin typeface="JetBrains Mono"/>
              </a:rPr>
              <a:t>    totalIn += cents;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A7A"/>
                </a:solidFill>
                <a:latin typeface="JetBrains Mono"/>
              </a:rPr>
              <a:t>    emit ContributionRecorded(round, memberId, cents, investecRef);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A5A7A"/>
                </a:solidFill>
                <a:latin typeface="JetBrains Mono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8A96AD"/>
                </a:solidFill>
                <a:latin typeface="Inter"/>
              </a:rPr>
              <a:t>V1 is this function without line 4. Same bank transaction, sent twice: V1 counts it twice, V2 says no.</a:t>
            </a:r>
          </a:p>
        </p:txBody>
      </p:sp>
      <p:sp>
        <p:nvSpPr>
          <p:cNvPr id="9" name="Rectangle 8"/>
          <p:cNvSpPr/>
          <p:nvPr/>
        </p:nvSpPr>
        <p:spPr>
          <a:xfrm rot="21360000">
            <a:off x="9326880" y="5577840"/>
            <a:ext cx="1964131" cy="570585"/>
          </a:xfrm>
          <a:prstGeom prst="rect">
            <a:avLst/>
          </a:prstGeom>
          <a:noFill/>
          <a:ln w="28575">
            <a:solidFill>
              <a:srgbClr val="FF5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360000">
            <a:off x="9372600" y="5623559"/>
            <a:ext cx="1872691" cy="479145"/>
          </a:xfrm>
          <a:prstGeom prst="rect">
            <a:avLst/>
          </a:prstGeom>
          <a:noFill/>
          <a:ln w="9525">
            <a:solidFill>
              <a:srgbClr val="FF5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21360000">
            <a:off x="9326880" y="5577840"/>
            <a:ext cx="1964131" cy="5705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5A5F"/>
                </a:solidFill>
                <a:latin typeface="Space Grotesk"/>
              </a:rPr>
              <a:t>REFUSED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F4F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4F1EA"/>
                </a:solidFill>
                <a:latin typeface="Space Grotesk"/>
              </a:rPr>
              <a:t>Demo 6 · The fuzzer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6AD"/>
                </a:solidFill>
                <a:latin typeface="JetBrains Mono"/>
              </a:rPr>
              <a:t>✂ can be cut for a 20 minute slot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F4F1EA"/>
                </a:solidFill>
                <a:latin typeface="Space Grotesk"/>
              </a:rPr>
              <a:t>Four invariants, always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5303520" cy="23774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2EC4B6"/>
                </a:solidFill>
                <a:latin typeface="JetBrains Mono"/>
              </a:rPr>
              <a:t>1  </a:t>
            </a:r>
            <a:r>
              <a:rPr sz="1500" b="0" i="0">
                <a:solidFill>
                  <a:srgbClr val="F4F1EA"/>
                </a:solidFill>
                <a:latin typeface="JetBrains Mono"/>
              </a:rPr>
              <a:t>sum(paidCents) == totalIn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2EC4B6"/>
                </a:solidFill>
                <a:latin typeface="JetBrains Mono"/>
              </a:rPr>
              <a:t>2  </a:t>
            </a:r>
            <a:r>
              <a:rPr sz="1500" b="0" i="0">
                <a:solidFill>
                  <a:srgbClr val="F4F1EA"/>
                </a:solidFill>
                <a:latin typeface="JetBrains Mono"/>
              </a:rPr>
              <a:t>totalIn - settledOut == pot + unsettled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2EC4B6"/>
                </a:solidFill>
                <a:latin typeface="JetBrains Mono"/>
              </a:rPr>
              <a:t>3  </a:t>
            </a:r>
            <a:r>
              <a:rPr sz="1500" b="0" i="0">
                <a:solidFill>
                  <a:srgbClr val="F4F1EA"/>
                </a:solidFill>
                <a:latin typeface="JetBrains Mono"/>
              </a:rPr>
              <a:t>no Investec ref is ever used twice</a:t>
            </a:r>
          </a:p>
          <a:p>
            <a:pPr algn="l">
              <a:lnSpc>
                <a:spcPct val="160000"/>
              </a:lnSpc>
            </a:pPr>
            <a:r>
              <a:rPr sz="1500" b="0" i="0">
                <a:solidFill>
                  <a:srgbClr val="2EC4B6"/>
                </a:solidFill>
                <a:latin typeface="JetBrains Mono"/>
              </a:rPr>
              <a:t>4  </a:t>
            </a:r>
            <a:r>
              <a:rPr sz="1500" b="0" i="0">
                <a:solidFill>
                  <a:srgbClr val="F4F1EA"/>
                </a:solidFill>
                <a:latin typeface="JetBrains Mono"/>
              </a:rPr>
              <a:t>no close while reserves &lt; owed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5303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8A96AD"/>
                </a:solidFill>
                <a:latin typeface="Inter"/>
              </a:rPr>
              <a:t>10,000 random months: contributions, duplicate webhooks, theft, refunds, time travel, closes, payouts.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4983480" cy="3017520"/>
          </a:xfrm>
          <a:prstGeom prst="rect">
            <a:avLst/>
          </a:prstGeom>
          <a:solidFill>
            <a:srgbClr val="13203A"/>
          </a:solidFill>
          <a:ln w="12700">
            <a:solidFill>
              <a:srgbClr val="2A3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371600"/>
            <a:ext cx="4663440" cy="27432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4F1EA"/>
                </a:solidFill>
                <a:latin typeface="JetBrains Mono"/>
              </a:rPr>
              <a:t>$ ./scripts/fuzz.sh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8A96AD"/>
                </a:solidFill>
                <a:latin typeface="JetBrains Mono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5A5F"/>
                </a:solidFill>
                <a:latin typeface="JetBrains Mono"/>
              </a:rPr>
              <a:t>[FAIL: an Investec ref was recorded twice: 2 != 1]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8A96AD"/>
                </a:solidFill>
                <a:latin typeface="JetBrains Mono"/>
              </a:rPr>
              <a:t>  contribute(uint8,uint128) args=[156, 2592000]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8A96AD"/>
                </a:solidFill>
                <a:latin typeface="JetBrains Mono"/>
              </a:rPr>
              <a:t>  duplicateWebhook(uint256) args=[3]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5A5F"/>
                </a:solidFill>
                <a:latin typeface="JetBrains Mono"/>
              </a:rPr>
              <a:t>[FAIL: totalIn != what the bank received: 1184000 != 592000]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8A96AD"/>
                </a:solidFill>
                <a:latin typeface="JetBrains Mono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5A5F"/>
                </a:solidFill>
                <a:latin typeface="JetBrains Mono"/>
              </a:rPr>
              <a:t>Suite result: FAILED. 3 passed; 2 failed  (V1)</a:t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3DDC97"/>
                </a:solidFill>
                <a:latin typeface="JetBrains Mono"/>
              </a:rPr>
              <a:t>Suite result: ok.     5 passed; 0 failed  (V2)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4F1EA"/>
                </a:solidFill>
                <a:latin typeface="Space Grotesk"/>
              </a:rPr>
              <a:t>Write down what must always be true. Let a machine try to make it false.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F4F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4F1EA"/>
                </a:solidFill>
                <a:latin typeface="Space Grotesk"/>
              </a:rPr>
              <a:t>Demo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6AD"/>
                </a:solidFill>
                <a:latin typeface="JetBrains Mono"/>
              </a:rPr>
              <a:t>live · simulated bank, private test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4A5A7A"/>
                </a:solidFill>
                <a:latin typeface="Space Grotesk"/>
              </a:rPr>
              <a:t>DEMO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0" i="0">
                <a:solidFill>
                  <a:srgbClr val="F4F1EA"/>
                </a:solidFill>
                <a:latin typeface="Space Grotesk"/>
              </a:rPr>
              <a:t>Vote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8A96AD"/>
                </a:solidFill>
                <a:latin typeface="Inter"/>
              </a:rPr>
              <a:t>Four cards sign one English sentence: “raise the contribution from R5,000 to R6,000”. Then a timelock. Then it's the rule.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869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442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4869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07442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937885"/>
            <a:ext cx="125730" cy="62865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8690" y="5875020"/>
            <a:ext cx="62865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4420" y="5937885"/>
            <a:ext cx="125730" cy="62865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" y="5875020"/>
            <a:ext cx="62865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8229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8690" y="6000750"/>
            <a:ext cx="125730" cy="62865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37285" y="6000750"/>
            <a:ext cx="62865" cy="12573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20015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51561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64134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38988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1561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4134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76707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38988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51561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64134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76707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38988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1561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4134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76707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56816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956816" y="562356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08254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20827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34006" y="5623560"/>
            <a:ext cx="62865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1968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8254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7114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33400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95681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103501" y="5895975"/>
            <a:ext cx="83820" cy="83820"/>
          </a:xfrm>
          <a:prstGeom prst="ellipse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20827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34006" y="587502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95681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082546" y="600075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20827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334006" y="600075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523744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252374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64947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2775203" y="562356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90093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52374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64947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775203" y="574929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125730"/>
                </a:moveTo>
                <a:lnTo>
                  <a:pt x="0" y="125730"/>
                </a:lnTo>
                <a:lnTo>
                  <a:pt x="125731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290093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252374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90093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52374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649474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2775203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90093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090672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090672" y="5623560"/>
            <a:ext cx="125730" cy="62865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23735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6308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530727" y="5623560"/>
            <a:ext cx="62865" cy="125730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09067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279267" y="5749290"/>
            <a:ext cx="62865" cy="12573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342132" y="5749290"/>
            <a:ext cx="125730" cy="62865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46786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11162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23735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36308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48881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090672" y="6000750"/>
            <a:ext cx="125730" cy="62865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530727" y="6000750"/>
            <a:ext cx="62865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657600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657600" y="5686425"/>
            <a:ext cx="125730" cy="62865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04285" y="564451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909060" y="5623560"/>
            <a:ext cx="125730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678554" y="577024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04285" y="5770245"/>
            <a:ext cx="83820" cy="83820"/>
          </a:xfrm>
          <a:prstGeom prst="ellipse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390906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097654" y="5749290"/>
            <a:ext cx="62865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65760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78333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909060" y="5875020"/>
            <a:ext cx="125730" cy="12573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4034789" y="587502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365760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378333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39090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4034789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F4F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4F1EA"/>
                </a:solidFill>
                <a:latin typeface="Space Grotesk"/>
              </a:rPr>
              <a:t>Demo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6AD"/>
                </a:solidFill>
                <a:latin typeface="JetBrains Mono"/>
              </a:rPr>
              <a:t>live · simulated bank, private test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4A5A7A"/>
                </a:solidFill>
                <a:latin typeface="Space Grotesk"/>
              </a:rPr>
              <a:t>DEMO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0" i="0">
                <a:solidFill>
                  <a:srgbClr val="F4F1EA"/>
                </a:solidFill>
                <a:latin typeface="Space Grotesk"/>
              </a:rPr>
              <a:t>Stolen 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8A96AD"/>
                </a:solidFill>
                <a:latin typeface="Inter"/>
              </a:rPr>
              <a:t>The thief holds Sipho's key. The committee moves Sipho to a spare card, and the stolen one stops being anyone.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869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442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4869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07442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937885"/>
            <a:ext cx="125730" cy="62865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8690" y="5875020"/>
            <a:ext cx="62865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4420" y="5937885"/>
            <a:ext cx="125730" cy="62865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" y="5875020"/>
            <a:ext cx="62865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8229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8690" y="6000750"/>
            <a:ext cx="125730" cy="62865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37285" y="6000750"/>
            <a:ext cx="62865" cy="12573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20015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51561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64134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38988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1561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4134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76707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38988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51561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64134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76707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38988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1561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4134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76707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56816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956816" y="562356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08254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20827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34006" y="5623560"/>
            <a:ext cx="62865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1968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8254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7114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33400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95681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103501" y="5895975"/>
            <a:ext cx="83820" cy="83820"/>
          </a:xfrm>
          <a:prstGeom prst="ellipse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20827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34006" y="587502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95681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082546" y="600075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20827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334006" y="600075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523744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252374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64947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2775203" y="562356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90093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52374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64947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775203" y="574929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125730"/>
                </a:moveTo>
                <a:lnTo>
                  <a:pt x="0" y="125730"/>
                </a:lnTo>
                <a:lnTo>
                  <a:pt x="125731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290093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252374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90093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52374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649474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2775203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90093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090672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090672" y="5623560"/>
            <a:ext cx="125730" cy="62865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23735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6308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530727" y="5623560"/>
            <a:ext cx="62865" cy="125730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09067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279267" y="5749290"/>
            <a:ext cx="62865" cy="12573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342132" y="5749290"/>
            <a:ext cx="125730" cy="62865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46786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11162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23735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36308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48881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090672" y="6000750"/>
            <a:ext cx="125730" cy="62865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530727" y="6000750"/>
            <a:ext cx="62865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657600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657600" y="5686425"/>
            <a:ext cx="125730" cy="62865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04285" y="564451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909060" y="5623560"/>
            <a:ext cx="125730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678554" y="577024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04285" y="5770245"/>
            <a:ext cx="83820" cy="83820"/>
          </a:xfrm>
          <a:prstGeom prst="ellipse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390906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097654" y="5749290"/>
            <a:ext cx="62865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65760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78333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909060" y="5875020"/>
            <a:ext cx="125730" cy="12573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4034789" y="587502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365760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378333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39090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4034789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F4F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4F1EA"/>
                </a:solidFill>
                <a:latin typeface="Space Grotesk"/>
              </a:rPr>
              <a:t>Demo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6AD"/>
                </a:solidFill>
                <a:latin typeface="JetBrains Mono"/>
              </a:rPr>
              <a:t>live · simulated bank, private test chain  ·  ✂ can be cut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4A5A7A"/>
                </a:solidFill>
                <a:latin typeface="Space Grotesk"/>
              </a:rPr>
              <a:t>DEMO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0" i="0">
                <a:solidFill>
                  <a:srgbClr val="F4F1EA"/>
                </a:solidFill>
                <a:latin typeface="Space Grotesk"/>
              </a:rPr>
              <a:t>Kill the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8A96AD"/>
                </a:solidFill>
                <a:latin typeface="Inter"/>
              </a:rPr>
              <a:t>The relayer dies on stage. The book is still on the shelf: every screen rebuilds from chain events, and nothing is sent twice.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869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4420" y="56235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4869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07442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" y="57492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5937885"/>
            <a:ext cx="125730" cy="62865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8690" y="5875020"/>
            <a:ext cx="62865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4420" y="5937885"/>
            <a:ext cx="125730" cy="62865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0150" y="5875020"/>
            <a:ext cx="62865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8229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8690" y="6000750"/>
            <a:ext cx="125730" cy="62865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37285" y="6000750"/>
            <a:ext cx="62865" cy="12573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120015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51561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641348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138988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1561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41348" y="57492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1767078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138988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151561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164134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1767078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138988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1561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41348" y="60007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767078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56816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956816" y="562356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08254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208276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34006" y="5623560"/>
            <a:ext cx="62865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1968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8254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71141" y="57492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334006" y="57492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95681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103501" y="5895975"/>
            <a:ext cx="83820" cy="83820"/>
          </a:xfrm>
          <a:prstGeom prst="ellipse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2208276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334006" y="587502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95681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082546" y="600075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2208276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334006" y="600075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523744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252374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264947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2775203" y="562356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2900934" y="56235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52374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64947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775203" y="574929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125730"/>
                </a:moveTo>
                <a:lnTo>
                  <a:pt x="0" y="125730"/>
                </a:lnTo>
                <a:lnTo>
                  <a:pt x="125731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2900934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252374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2900934" y="58750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52374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2649474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2775203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900934" y="60007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090672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090672" y="5623560"/>
            <a:ext cx="125730" cy="62865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23735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63087" y="56445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530727" y="5623560"/>
            <a:ext cx="62865" cy="125730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09067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279267" y="5749290"/>
            <a:ext cx="62865" cy="12573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342132" y="5749290"/>
            <a:ext cx="125730" cy="62865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467862" y="57492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11162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23735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363087" y="58959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488817" y="58959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090672" y="6000750"/>
            <a:ext cx="125730" cy="62865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530727" y="6000750"/>
            <a:ext cx="62865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657600" y="56235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657600" y="5686425"/>
            <a:ext cx="125730" cy="62865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04285" y="564451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909060" y="5623560"/>
            <a:ext cx="125730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678554" y="577024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04285" y="5770245"/>
            <a:ext cx="83820" cy="83820"/>
          </a:xfrm>
          <a:prstGeom prst="ellipse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Freeform 90"/>
          <p:cNvSpPr/>
          <p:nvPr/>
        </p:nvSpPr>
        <p:spPr>
          <a:xfrm>
            <a:off x="3909060" y="57492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097654" y="5749290"/>
            <a:ext cx="62865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65760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783330" y="58750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909060" y="5875020"/>
            <a:ext cx="125730" cy="12573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4034789" y="587502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0" y="0"/>
                </a:moveTo>
                <a:lnTo>
                  <a:pt x="125731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365760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378333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3909060" y="60007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4034789" y="6000750"/>
            <a:ext cx="125731" cy="125730"/>
          </a:xfrm>
          <a:custGeom>
            <a:avLst/>
            <a:gdLst/>
            <a:ahLst/>
            <a:cxnLst/>
            <a:rect l="l" t="t" r="r" b="b"/>
            <a:pathLst>
              <a:path w="125731" h="125730">
                <a:moveTo>
                  <a:pt x="125731" y="0"/>
                </a:moveTo>
                <a:lnTo>
                  <a:pt x="125731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F4F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4F1EA"/>
                </a:solidFill>
                <a:latin typeface="Space Grotesk"/>
              </a:rPr>
              <a:t>Honest limits, and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6AD"/>
                </a:solidFill>
                <a:latin typeface="JetBrains Mono"/>
              </a:rPr>
              <a:t>said out 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FF5A5F"/>
                </a:solidFill>
                <a:latin typeface="Space Grotesk"/>
              </a:rPr>
              <a:t>What this doesn't do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1874519"/>
            <a:ext cx="4937760" cy="0"/>
          </a:xfrm>
          <a:prstGeom prst="line">
            <a:avLst/>
          </a:prstGeom>
          <a:ln w="12700">
            <a:solidFill>
              <a:srgbClr val="2A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9842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4F1EA"/>
                </a:solidFill>
                <a:latin typeface="Space Grotesk"/>
              </a:rPr>
              <a:t>Trusted relayer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A96AD"/>
                </a:solidFill>
                <a:latin typeface="Inter"/>
              </a:rPr>
              <a:t>it reports what the bank did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2743200"/>
            <a:ext cx="4937760" cy="0"/>
          </a:xfrm>
          <a:prstGeom prst="line">
            <a:avLst/>
          </a:prstGeom>
          <a:ln w="12700">
            <a:solidFill>
              <a:srgbClr val="2A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28529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4F1EA"/>
                </a:solidFill>
                <a:latin typeface="Space Grotesk"/>
              </a:rPr>
              <a:t>Group account KYC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A96AD"/>
                </a:solidFill>
                <a:latin typeface="Inter"/>
              </a:rPr>
              <a:t>six people on one key is a demo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3611879"/>
            <a:ext cx="4937760" cy="0"/>
          </a:xfrm>
          <a:prstGeom prst="line">
            <a:avLst/>
          </a:prstGeom>
          <a:ln w="12700">
            <a:solidFill>
              <a:srgbClr val="2A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3721607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4F1EA"/>
                </a:solidFill>
                <a:latin typeface="Space Grotesk"/>
              </a:rPr>
              <a:t>No tokenised rand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079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A96AD"/>
                </a:solidFill>
                <a:latin typeface="Inter"/>
              </a:rPr>
              <a:t>yet, on purpose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4480559"/>
            <a:ext cx="4937760" cy="0"/>
          </a:xfrm>
          <a:prstGeom prst="line">
            <a:avLst/>
          </a:prstGeom>
          <a:ln w="12700">
            <a:solidFill>
              <a:srgbClr val="2A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45902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4F1EA"/>
                </a:solidFill>
                <a:latin typeface="Space Grotesk"/>
              </a:rPr>
              <a:t>QR cards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37759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A96AD"/>
                </a:solidFill>
                <a:latin typeface="Inter"/>
              </a:rPr>
              <a:t>should be passkeys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234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i="0">
                <a:solidFill>
                  <a:srgbClr val="2EC4B6"/>
                </a:solidFill>
                <a:latin typeface="Space Grotesk"/>
              </a:rPr>
              <a:t>Next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09360" y="1874519"/>
            <a:ext cx="4937760" cy="0"/>
          </a:xfrm>
          <a:prstGeom prst="line">
            <a:avLst/>
          </a:prstGeom>
          <a:ln w="12700">
            <a:solidFill>
              <a:srgbClr val="2A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09360" y="19842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4F1EA"/>
                </a:solidFill>
                <a:latin typeface="Space Grotesk"/>
              </a:rPr>
              <a:t>Passkeys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33172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A96AD"/>
                </a:solidFill>
                <a:latin typeface="Inter"/>
              </a:rPr>
              <a:t>a phone that signs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309360" y="2743200"/>
            <a:ext cx="4937760" cy="0"/>
          </a:xfrm>
          <a:prstGeom prst="line">
            <a:avLst/>
          </a:prstGeom>
          <a:ln w="12700">
            <a:solidFill>
              <a:srgbClr val="2A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309360" y="28529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4F1EA"/>
                </a:solidFill>
                <a:latin typeface="Space Grotesk"/>
              </a:rPr>
              <a:t>A real club account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20040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A96AD"/>
                </a:solidFill>
                <a:latin typeface="Inter"/>
              </a:rPr>
              <a:t>with the bank's own controls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09360" y="3611879"/>
            <a:ext cx="4937760" cy="0"/>
          </a:xfrm>
          <a:prstGeom prst="line">
            <a:avLst/>
          </a:prstGeom>
          <a:ln w="12700">
            <a:solidFill>
              <a:srgbClr val="2A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09360" y="3721607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4F1EA"/>
                </a:solidFill>
                <a:latin typeface="Space Grotesk"/>
              </a:rPr>
              <a:t>Rage-quit and late fees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069079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A96AD"/>
                </a:solidFill>
                <a:latin typeface="Inter"/>
              </a:rPr>
              <a:t>the rules a real stokvel has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309360" y="4480559"/>
            <a:ext cx="4937760" cy="0"/>
          </a:xfrm>
          <a:prstGeom prst="line">
            <a:avLst/>
          </a:prstGeom>
          <a:ln w="12700">
            <a:solidFill>
              <a:srgbClr val="2A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309360" y="45902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4F1EA"/>
                </a:solidFill>
                <a:latin typeface="Space Grotesk"/>
              </a:rPr>
              <a:t>Tokenised rand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937759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8A96AD"/>
                </a:solidFill>
                <a:latin typeface="Inter"/>
              </a:rPr>
              <a:t>when a bank stands behind one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22960" y="6172200"/>
            <a:ext cx="10545775" cy="0"/>
          </a:xfrm>
          <a:prstGeom prst="line">
            <a:avLst/>
          </a:prstGeom>
          <a:ln w="12700">
            <a:solidFill>
              <a:srgbClr val="2A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22960" y="62636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6AD"/>
                </a:solidFill>
                <a:latin typeface="JetBrains Mono"/>
              </a:rPr>
              <a:t>With thanks to Peter Smythe · github.com/petersmythe/invapi-dual-auth · github.com/petersmythe/investec-swipe-n-save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188720"/>
            <a:ext cx="76809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F4F1EA"/>
                </a:solidFill>
                <a:latin typeface="Space Grotesk"/>
              </a:rPr>
              <a:t>We didn't replace the trust.</a:t>
            </a:r>
          </a:p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2EC4B6"/>
                </a:solidFill>
                <a:latin typeface="Space Grotesk"/>
              </a:rPr>
              <a:t>We wrote it down where nobody can erase it.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20624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8A96AD"/>
                </a:solidFill>
                <a:latin typeface="Inter"/>
              </a:rPr>
              <a:t>Thank you, committee.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7091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8690" y="47091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74420" y="4709160"/>
            <a:ext cx="125730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8348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48690" y="48348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074420" y="48348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00150" y="4834890"/>
            <a:ext cx="125730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5023485"/>
            <a:ext cx="125730" cy="62865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8690" y="4960620"/>
            <a:ext cx="62865" cy="125730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4420" y="5023485"/>
            <a:ext cx="125730" cy="62865"/>
          </a:xfrm>
          <a:prstGeom prst="rect">
            <a:avLst/>
          </a:prstGeom>
          <a:solidFill>
            <a:srgbClr val="F4A2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00150" y="4960620"/>
            <a:ext cx="62865" cy="125730"/>
          </a:xfrm>
          <a:prstGeom prst="rect">
            <a:avLst/>
          </a:prstGeom>
          <a:solidFill>
            <a:srgbClr val="F7B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22960" y="50863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8690" y="5086350"/>
            <a:ext cx="125730" cy="62865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37285" y="5086350"/>
            <a:ext cx="62865" cy="125730"/>
          </a:xfrm>
          <a:prstGeom prst="rect">
            <a:avLst/>
          </a:pr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200150" y="50863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926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8523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96AD"/>
                </a:solidFill>
                <a:latin typeface="JetBrains Mono"/>
              </a:rPr>
              <a:t>Lerato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57400" y="47091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2183130" y="47091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2308860" y="47091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2057400" y="48348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83130" y="48348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08860" y="483489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2434590" y="48348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057400" y="49606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2183130" y="49606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2308860" y="49606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2434590" y="49606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2057400" y="50863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83130" y="50863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08860" y="5086350"/>
            <a:ext cx="125730" cy="125730"/>
          </a:xfrm>
          <a:prstGeom prst="rect">
            <a:avLst/>
          </a:prstGeom>
          <a:solidFill>
            <a:srgbClr val="6AB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2434590" y="50863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19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57400" y="528523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96AD"/>
                </a:solidFill>
                <a:latin typeface="JetBrains Mono"/>
              </a:rPr>
              <a:t>Thabo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0" y="47091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91840" y="470916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3417570" y="47091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3543300" y="47091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69030" y="4709160"/>
            <a:ext cx="62865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54705" y="48348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17570" y="48348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06165" y="4834890"/>
            <a:ext cx="62865" cy="125730"/>
          </a:xfrm>
          <a:prstGeom prst="rect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69030" y="4834890"/>
            <a:ext cx="125730" cy="12573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3291840" y="49606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438525" y="4981575"/>
            <a:ext cx="83820" cy="83820"/>
          </a:xfrm>
          <a:prstGeom prst="ellipse">
            <a:avLst/>
          </a:prstGeom>
          <a:solidFill>
            <a:srgbClr val="8B43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3543300" y="49606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69030" y="496062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3291840" y="50863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417570" y="5086350"/>
            <a:ext cx="125730" cy="62865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3543300" y="50863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69030" y="5086350"/>
            <a:ext cx="125730" cy="125730"/>
          </a:xfrm>
          <a:prstGeom prst="rect">
            <a:avLst/>
          </a:prstGeom>
          <a:solidFill>
            <a:srgbClr val="EE9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91840" y="528523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96AD"/>
                </a:solidFill>
                <a:latin typeface="JetBrains Mono"/>
              </a:rPr>
              <a:t>Aisha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7091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4526280" y="47091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4652010" y="47091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4777740" y="47091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903470" y="470916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526280" y="48348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4652010" y="48348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4777740" y="48348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4903470" y="48348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526280" y="49606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4903470" y="496062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536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26280" y="50863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4652010" y="50863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0"/>
                </a:moveTo>
                <a:lnTo>
                  <a:pt x="125730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4777740" y="50863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AB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903470" y="5086350"/>
            <a:ext cx="125730" cy="125730"/>
          </a:xfrm>
          <a:prstGeom prst="rect">
            <a:avLst/>
          </a:prstGeom>
          <a:solidFill>
            <a:srgbClr val="ADC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26280" y="528523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96AD"/>
                </a:solidFill>
                <a:latin typeface="JetBrains Mono"/>
              </a:rPr>
              <a:t>Johan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760720" y="47091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60720" y="4709160"/>
            <a:ext cx="125730" cy="62865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907405" y="47301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033135" y="473011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0775" y="4709160"/>
            <a:ext cx="62865" cy="125730"/>
          </a:xfrm>
          <a:prstGeom prst="rect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760720" y="48348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949315" y="4834890"/>
            <a:ext cx="62865" cy="125730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012180" y="4834890"/>
            <a:ext cx="125730" cy="62865"/>
          </a:xfrm>
          <a:prstGeom prst="rect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137910" y="4834890"/>
            <a:ext cx="125730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781675" y="49815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907405" y="49815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033135" y="4981575"/>
            <a:ext cx="83820" cy="83820"/>
          </a:xfrm>
          <a:prstGeom prst="ellipse">
            <a:avLst/>
          </a:prstGeom>
          <a:solidFill>
            <a:srgbClr val="CAA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158865" y="4981575"/>
            <a:ext cx="83820" cy="83820"/>
          </a:xfrm>
          <a:prstGeom prst="ellipse">
            <a:avLst/>
          </a:prstGeom>
          <a:solidFill>
            <a:srgbClr val="6B52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760720" y="5086350"/>
            <a:ext cx="125730" cy="62865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200775" y="5086350"/>
            <a:ext cx="62865" cy="125730"/>
          </a:xfrm>
          <a:prstGeom prst="rect">
            <a:avLst/>
          </a:prstGeom>
          <a:solidFill>
            <a:srgbClr val="B38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760720" y="528523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96AD"/>
                </a:solidFill>
                <a:latin typeface="JetBrains Mono"/>
              </a:rPr>
              <a:t>Priya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995160" y="4709160"/>
            <a:ext cx="502920" cy="502920"/>
          </a:xfrm>
          <a:prstGeom prst="rect">
            <a:avLst/>
          </a:prstGeom>
          <a:solidFill>
            <a:srgbClr val="13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95160" y="4772025"/>
            <a:ext cx="125730" cy="62865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141845" y="473011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246620" y="4709160"/>
            <a:ext cx="125730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7016115" y="4855845"/>
            <a:ext cx="83820" cy="83820"/>
          </a:xfrm>
          <a:prstGeom prst="ellipse">
            <a:avLst/>
          </a:pr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7141845" y="4855845"/>
            <a:ext cx="83820" cy="83820"/>
          </a:xfrm>
          <a:prstGeom prst="ellipse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7246620" y="483489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0" y="125730"/>
                </a:moveTo>
                <a:lnTo>
                  <a:pt x="0" y="0"/>
                </a:lnTo>
                <a:lnTo>
                  <a:pt x="125730" y="12573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435215" y="4834890"/>
            <a:ext cx="62865" cy="12573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995160" y="49606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120890" y="4960620"/>
            <a:ext cx="125730" cy="62865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246620" y="4960620"/>
            <a:ext cx="125730" cy="125730"/>
          </a:xfrm>
          <a:prstGeom prst="rect">
            <a:avLst/>
          </a:pr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7372350" y="4960620"/>
            <a:ext cx="125729" cy="125730"/>
          </a:xfrm>
          <a:custGeom>
            <a:avLst/>
            <a:gdLst/>
            <a:ahLst/>
            <a:cxnLst/>
            <a:rect l="l" t="t" r="r" b="b"/>
            <a:pathLst>
              <a:path w="125729" h="125730">
                <a:moveTo>
                  <a:pt x="0" y="0"/>
                </a:moveTo>
                <a:lnTo>
                  <a:pt x="125729" y="0"/>
                </a:lnTo>
                <a:lnTo>
                  <a:pt x="0" y="12573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6995160" y="50863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125730"/>
                </a:moveTo>
                <a:lnTo>
                  <a:pt x="0" y="125730"/>
                </a:lnTo>
                <a:lnTo>
                  <a:pt x="125730" y="0"/>
                </a:lnTo>
                <a:close/>
              </a:path>
            </a:pathLst>
          </a:cu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7120890" y="50863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F0D6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7246620" y="5086350"/>
            <a:ext cx="125730" cy="125730"/>
          </a:xfrm>
          <a:custGeom>
            <a:avLst/>
            <a:gdLst/>
            <a:ahLst/>
            <a:cxnLst/>
            <a:rect l="l" t="t" r="r" b="b"/>
            <a:pathLst>
              <a:path w="125730" h="125730">
                <a:moveTo>
                  <a:pt x="125730" y="0"/>
                </a:moveTo>
                <a:lnTo>
                  <a:pt x="125730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7372350" y="5086350"/>
            <a:ext cx="125729" cy="125730"/>
          </a:xfrm>
          <a:custGeom>
            <a:avLst/>
            <a:gdLst/>
            <a:ahLst/>
            <a:cxnLst/>
            <a:rect l="l" t="t" r="r" b="b"/>
            <a:pathLst>
              <a:path w="125729" h="125730">
                <a:moveTo>
                  <a:pt x="125729" y="0"/>
                </a:moveTo>
                <a:lnTo>
                  <a:pt x="125729" y="125730"/>
                </a:lnTo>
                <a:lnTo>
                  <a:pt x="0" y="0"/>
                </a:lnTo>
                <a:close/>
              </a:path>
            </a:pathLst>
          </a:custGeom>
          <a:solidFill>
            <a:srgbClr val="8C7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995160" y="528523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A96AD"/>
                </a:solidFill>
                <a:latin typeface="JetBrains Mono"/>
              </a:rPr>
              <a:t>Sipho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098280" y="1280160"/>
            <a:ext cx="2286000" cy="2286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qr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1371600"/>
            <a:ext cx="2103120" cy="210312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412480" y="370332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A96AD"/>
                </a:solidFill>
                <a:latin typeface="JetBrains Mono"/>
              </a:rPr>
              <a:t>github.com/Nevvyboi/</a:t>
            </a:r>
          </a:p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A96AD"/>
                </a:solidFill>
                <a:latin typeface="JetBrains Mono"/>
              </a:rPr>
              <a:t>StokvelProgrammableBankingWithSolidity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822960" y="6172200"/>
            <a:ext cx="10545775" cy="0"/>
          </a:xfrm>
          <a:prstGeom prst="line">
            <a:avLst/>
          </a:prstGeom>
          <a:ln w="12700">
            <a:solidFill>
              <a:srgbClr val="2A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A96AD"/>
                </a:solidFill>
                <a:latin typeface="JetBrains Mono"/>
              </a:rPr>
              <a:t>one command runs the whole demo: ./scripts/demo.sh --mock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711135" y="62636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6AD"/>
                </a:solidFill>
                <a:latin typeface="JetBrains Mono"/>
              </a:rPr>
              <a:t>MIT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566928"/>
            <a:ext cx="10545775" cy="0"/>
          </a:xfrm>
          <a:prstGeom prst="line">
            <a:avLst/>
          </a:prstGeom>
          <a:ln w="15875">
            <a:solidFill>
              <a:srgbClr val="F4F1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82296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4F1EA"/>
                </a:solidFill>
                <a:latin typeface="Space Grotesk"/>
              </a:rPr>
              <a:t>Appendix · Threat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67935" y="685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8A96AD"/>
                </a:solidFill>
                <a:latin typeface="JetBrains Mono"/>
              </a:rPr>
              <a:t>for questions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1755648"/>
            <a:ext cx="10545775" cy="0"/>
          </a:xfrm>
          <a:prstGeom prst="line">
            <a:avLst/>
          </a:prstGeom>
          <a:ln w="12700">
            <a:solidFill>
              <a:srgbClr val="2A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280160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4F1EA"/>
                </a:solidFill>
                <a:latin typeface="Space Grotesk"/>
              </a:rPr>
              <a:t>Dodgy treasurer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280160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4F1EA"/>
                </a:solidFill>
                <a:latin typeface="Inter"/>
              </a:rPr>
              <a:t>“pay me this month”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280160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8A96AD"/>
                </a:solidFill>
                <a:latin typeface="Inter"/>
              </a:rPr>
              <a:t>no recipient setter; vote plus timelock</a:t>
            </a:r>
          </a:p>
        </p:txBody>
      </p:sp>
      <p:sp>
        <p:nvSpPr>
          <p:cNvPr id="9" name="Rectangle 8"/>
          <p:cNvSpPr/>
          <p:nvPr/>
        </p:nvSpPr>
        <p:spPr>
          <a:xfrm rot="21420000">
            <a:off x="10058400" y="1261872"/>
            <a:ext cx="1360627" cy="285292"/>
          </a:xfrm>
          <a:prstGeom prst="rect">
            <a:avLst/>
          </a:prstGeom>
          <a:noFill/>
          <a:ln w="28575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1420000">
            <a:off x="10104120" y="1307592"/>
            <a:ext cx="1269187" cy="193852"/>
          </a:xfrm>
          <a:prstGeom prst="rect">
            <a:avLst/>
          </a:prstGeom>
          <a:noFill/>
          <a:ln w="9525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21420000">
            <a:off x="10058400" y="1261872"/>
            <a:ext cx="1360627" cy="2852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3DDC97"/>
                </a:solidFill>
                <a:latin typeface="Space Grotesk"/>
              </a:rPr>
              <a:t>NO SETTER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2414016"/>
            <a:ext cx="10545775" cy="0"/>
          </a:xfrm>
          <a:prstGeom prst="line">
            <a:avLst/>
          </a:prstGeom>
          <a:ln w="12700">
            <a:solidFill>
              <a:srgbClr val="2A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1938528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4F1EA"/>
                </a:solidFill>
                <a:latin typeface="Space Grotesk"/>
              </a:rPr>
              <a:t>Dodgy treasurer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938528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4F1EA"/>
                </a:solidFill>
                <a:latin typeface="Inter"/>
              </a:rPr>
              <a:t>takes rand out of the account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938528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8A96AD"/>
                </a:solidFill>
                <a:latin typeface="Inter"/>
              </a:rPr>
              <a:t>ReservesShort freezes payouts</a:t>
            </a:r>
          </a:p>
        </p:txBody>
      </p:sp>
      <p:sp>
        <p:nvSpPr>
          <p:cNvPr id="16" name="Rectangle 15"/>
          <p:cNvSpPr/>
          <p:nvPr/>
        </p:nvSpPr>
        <p:spPr>
          <a:xfrm rot="21420000">
            <a:off x="10058400" y="1920240"/>
            <a:ext cx="998524" cy="285292"/>
          </a:xfrm>
          <a:prstGeom prst="rect">
            <a:avLst/>
          </a:prstGeom>
          <a:noFill/>
          <a:ln w="28575">
            <a:solidFill>
              <a:srgbClr val="FF5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1420000">
            <a:off x="10104120" y="1965960"/>
            <a:ext cx="907084" cy="193852"/>
          </a:xfrm>
          <a:prstGeom prst="rect">
            <a:avLst/>
          </a:prstGeom>
          <a:noFill/>
          <a:ln w="9525">
            <a:solidFill>
              <a:srgbClr val="FF5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 rot="21420000">
            <a:off x="10058400" y="1920240"/>
            <a:ext cx="998524" cy="2852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5A5F"/>
                </a:solidFill>
                <a:latin typeface="Space Grotesk"/>
              </a:rPr>
              <a:t>FROZEN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960" y="3072384"/>
            <a:ext cx="10545775" cy="0"/>
          </a:xfrm>
          <a:prstGeom prst="line">
            <a:avLst/>
          </a:prstGeom>
          <a:ln w="12700">
            <a:solidFill>
              <a:srgbClr val="2A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" y="2596896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4F1EA"/>
                </a:solidFill>
                <a:latin typeface="Space Grotesk"/>
              </a:rPr>
              <a:t>Compromised relayer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596896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4F1EA"/>
                </a:solidFill>
                <a:latin typeface="Inter"/>
              </a:rPr>
              <a:t>records a payment twice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596896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8A96AD"/>
                </a:solidFill>
                <a:latin typeface="Inter"/>
              </a:rPr>
              <a:t>seen[ref]: AlreadyRecorded</a:t>
            </a:r>
          </a:p>
        </p:txBody>
      </p:sp>
      <p:sp>
        <p:nvSpPr>
          <p:cNvPr id="23" name="Rectangle 22"/>
          <p:cNvSpPr/>
          <p:nvPr/>
        </p:nvSpPr>
        <p:spPr>
          <a:xfrm rot="21420000">
            <a:off x="10058400" y="2578608"/>
            <a:ext cx="1119225" cy="285292"/>
          </a:xfrm>
          <a:prstGeom prst="rect">
            <a:avLst/>
          </a:prstGeom>
          <a:noFill/>
          <a:ln w="28575">
            <a:solidFill>
              <a:srgbClr val="FF5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1420000">
            <a:off x="10104120" y="2624328"/>
            <a:ext cx="1027785" cy="193852"/>
          </a:xfrm>
          <a:prstGeom prst="rect">
            <a:avLst/>
          </a:prstGeom>
          <a:noFill/>
          <a:ln w="9525">
            <a:solidFill>
              <a:srgbClr val="FF5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 rot="21420000">
            <a:off x="10058400" y="2578608"/>
            <a:ext cx="1119225" cy="2852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5A5F"/>
                </a:solidFill>
                <a:latin typeface="Space Grotesk"/>
              </a:rPr>
              <a:t>REFUSED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2960" y="3730752"/>
            <a:ext cx="10545775" cy="0"/>
          </a:xfrm>
          <a:prstGeom prst="line">
            <a:avLst/>
          </a:prstGeom>
          <a:ln w="12700">
            <a:solidFill>
              <a:srgbClr val="2A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2960" y="3255264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4F1EA"/>
                </a:solidFill>
                <a:latin typeface="Space Grotesk"/>
              </a:rPr>
              <a:t>Compromised relayer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255264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4F1EA"/>
                </a:solidFill>
                <a:latin typeface="Inter"/>
              </a:rPr>
              <a:t>invents a huge contribution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255264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8A96AD"/>
                </a:solidFill>
                <a:latin typeface="Inter"/>
              </a:rPr>
              <a:t>AmountTooLarge cap; short at close</a:t>
            </a:r>
          </a:p>
        </p:txBody>
      </p:sp>
      <p:sp>
        <p:nvSpPr>
          <p:cNvPr id="30" name="Rectangle 29"/>
          <p:cNvSpPr/>
          <p:nvPr/>
        </p:nvSpPr>
        <p:spPr>
          <a:xfrm rot="21420000">
            <a:off x="10058400" y="3236976"/>
            <a:ext cx="998524" cy="285292"/>
          </a:xfrm>
          <a:prstGeom prst="rect">
            <a:avLst/>
          </a:prstGeom>
          <a:noFill/>
          <a:ln w="28575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 rot="21420000">
            <a:off x="10104120" y="3282696"/>
            <a:ext cx="907084" cy="193852"/>
          </a:xfrm>
          <a:prstGeom prst="rect">
            <a:avLst/>
          </a:prstGeom>
          <a:noFill/>
          <a:ln w="9525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 rot="21420000">
            <a:off x="10058400" y="3236976"/>
            <a:ext cx="998524" cy="2852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3DDC97"/>
                </a:solidFill>
                <a:latin typeface="Space Grotesk"/>
              </a:rPr>
              <a:t>CAPPED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22960" y="4389120"/>
            <a:ext cx="10545775" cy="0"/>
          </a:xfrm>
          <a:prstGeom prst="line">
            <a:avLst/>
          </a:prstGeom>
          <a:ln w="12700">
            <a:solidFill>
              <a:srgbClr val="2A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22960" y="3913631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4F1EA"/>
                </a:solidFill>
                <a:latin typeface="Space Grotesk"/>
              </a:rPr>
              <a:t>Compromised relayer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3913631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4F1EA"/>
                </a:solidFill>
                <a:latin typeface="Inter"/>
              </a:rPr>
              <a:t>pays the wrong person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3913631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8A96AD"/>
                </a:solidFill>
                <a:latin typeface="Inter"/>
              </a:rPr>
              <a:t>beneficiaryHash check; vote it out</a:t>
            </a:r>
          </a:p>
        </p:txBody>
      </p:sp>
      <p:sp>
        <p:nvSpPr>
          <p:cNvPr id="37" name="Rectangle 36"/>
          <p:cNvSpPr/>
          <p:nvPr/>
        </p:nvSpPr>
        <p:spPr>
          <a:xfrm rot="21420000">
            <a:off x="10058400" y="3895344"/>
            <a:ext cx="1119225" cy="285292"/>
          </a:xfrm>
          <a:prstGeom prst="rect">
            <a:avLst/>
          </a:prstGeom>
          <a:noFill/>
          <a:ln w="28575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1420000">
            <a:off x="10104120" y="3941063"/>
            <a:ext cx="1027785" cy="193852"/>
          </a:xfrm>
          <a:prstGeom prst="rect">
            <a:avLst/>
          </a:prstGeom>
          <a:noFill/>
          <a:ln w="9525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 rot="21420000">
            <a:off x="10058400" y="3895344"/>
            <a:ext cx="1119225" cy="2852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3DDC97"/>
                </a:solidFill>
                <a:latin typeface="Space Grotesk"/>
              </a:rPr>
              <a:t>CHECKED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22960" y="5047488"/>
            <a:ext cx="10545775" cy="0"/>
          </a:xfrm>
          <a:prstGeom prst="line">
            <a:avLst/>
          </a:prstGeom>
          <a:ln w="12700">
            <a:solidFill>
              <a:srgbClr val="2A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22960" y="4571999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4F1EA"/>
                </a:solidFill>
                <a:latin typeface="Space Grotesk"/>
              </a:rPr>
              <a:t>Vote thief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4571999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4F1EA"/>
                </a:solidFill>
                <a:latin typeface="Inter"/>
              </a:rPr>
              <a:t>replays an old signed vote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571999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8A96AD"/>
                </a:solidFill>
                <a:latin typeface="Inter"/>
              </a:rPr>
              <a:t>EIP-712 domain, per-signer nonce</a:t>
            </a:r>
          </a:p>
        </p:txBody>
      </p:sp>
      <p:sp>
        <p:nvSpPr>
          <p:cNvPr id="44" name="Rectangle 43"/>
          <p:cNvSpPr/>
          <p:nvPr/>
        </p:nvSpPr>
        <p:spPr>
          <a:xfrm rot="21420000">
            <a:off x="10058400" y="4553712"/>
            <a:ext cx="877824" cy="285292"/>
          </a:xfrm>
          <a:prstGeom prst="rect">
            <a:avLst/>
          </a:prstGeom>
          <a:noFill/>
          <a:ln w="28575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 rot="21420000">
            <a:off x="10104120" y="4599431"/>
            <a:ext cx="786384" cy="193852"/>
          </a:xfrm>
          <a:prstGeom prst="rect">
            <a:avLst/>
          </a:prstGeom>
          <a:noFill/>
          <a:ln w="9525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 rot="21420000">
            <a:off x="10058400" y="4553712"/>
            <a:ext cx="877824" cy="2852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3DDC97"/>
                </a:solidFill>
                <a:latin typeface="Space Grotesk"/>
              </a:rPr>
              <a:t>NONCE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22960" y="5705856"/>
            <a:ext cx="10545775" cy="0"/>
          </a:xfrm>
          <a:prstGeom prst="line">
            <a:avLst/>
          </a:prstGeom>
          <a:ln w="12700">
            <a:solidFill>
              <a:srgbClr val="2A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22960" y="5230368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4F1EA"/>
                </a:solidFill>
                <a:latin typeface="Space Grotesk"/>
              </a:rPr>
              <a:t>Stolen member card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0" y="5230368"/>
            <a:ext cx="2834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F4F1EA"/>
                </a:solidFill>
                <a:latin typeface="Inter"/>
              </a:rPr>
              <a:t>votes as the victim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5230368"/>
            <a:ext cx="3931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8A96AD"/>
                </a:solidFill>
                <a:latin typeface="Inter"/>
              </a:rPr>
              <a:t>RotateKey to a spare card</a:t>
            </a:r>
          </a:p>
        </p:txBody>
      </p:sp>
      <p:sp>
        <p:nvSpPr>
          <p:cNvPr id="51" name="Rectangle 50"/>
          <p:cNvSpPr/>
          <p:nvPr/>
        </p:nvSpPr>
        <p:spPr>
          <a:xfrm rot="21420000">
            <a:off x="10058400" y="5212080"/>
            <a:ext cx="1119225" cy="285292"/>
          </a:xfrm>
          <a:prstGeom prst="rect">
            <a:avLst/>
          </a:prstGeom>
          <a:noFill/>
          <a:ln w="28575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 rot="21420000">
            <a:off x="10104120" y="5257800"/>
            <a:ext cx="1027785" cy="193852"/>
          </a:xfrm>
          <a:prstGeom prst="rect">
            <a:avLst/>
          </a:prstGeom>
          <a:noFill/>
          <a:ln w="9525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 rot="21420000">
            <a:off x="10058400" y="5212080"/>
            <a:ext cx="1119225" cy="2852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3DDC97"/>
                </a:solidFill>
                <a:latin typeface="Space Grotesk"/>
              </a:rPr>
              <a:t>ROTATED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22960" y="6172200"/>
            <a:ext cx="10545775" cy="0"/>
          </a:xfrm>
          <a:prstGeom prst="line">
            <a:avLst/>
          </a:prstGeom>
          <a:ln w="12700">
            <a:solidFill>
              <a:srgbClr val="2A3B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22960" y="62636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A96AD"/>
                </a:solidFill>
                <a:latin typeface="JetBrains Mono"/>
              </a:rPr>
              <a:t>docs/SECURITY.md has the full model, the invariants and the Slither results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